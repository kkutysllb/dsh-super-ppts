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E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66773" y="1814276"/>
            <a:ext cx="7619809" cy="12801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300" b="1">
                <a:solidFill>
                  <a:srgbClr val="FFFFFF"/>
                </a:solidFill>
                <a:latin typeface="PingFang SC"/>
                <a:ea typeface="PingFang SC"/>
              </a:rPr>
              <a:t>重新定义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773" y="2804851"/>
            <a:ext cx="7619809" cy="12801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6300" b="1">
                <a:solidFill>
                  <a:srgbClr val="FFFFFF"/>
                </a:solidFill>
                <a:latin typeface="PingFang SC"/>
                <a:ea typeface="PingFang SC"/>
              </a:rPr>
              <a:t>工作方式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773" y="3886102"/>
            <a:ext cx="1371565" cy="114297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6773" y="4456826"/>
            <a:ext cx="7619809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A9AA6"/>
                </a:solidFill>
                <a:latin typeface="PingFang SC"/>
                <a:ea typeface="PingFang SC"/>
              </a:rPr>
              <a:t>一场发布会 · 一件新品 · 三个卖点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773" y="5333866"/>
            <a:ext cx="2438339" cy="685782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773" y="5553317"/>
            <a:ext cx="2438339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PingFang SC"/>
                <a:ea typeface="PingFang SC"/>
              </a:rPr>
              <a:t>立即体验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48403" y="1066773"/>
            <a:ext cx="2895527" cy="4724281"/>
          </a:xfrm>
          <a:prstGeom prst="roundRect">
            <a:avLst>
              <a:gd name="adj" fmla="val 15789"/>
            </a:avLst>
          </a:prstGeom>
          <a:solidFill>
            <a:srgbClr val="17171D"/>
          </a:solidFill>
          <a:ln w="38100">
            <a:solidFill>
              <a:srgbClr val="2E2E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53196" y="1523961"/>
            <a:ext cx="2285942" cy="3428914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F7A45"/>
              </a:gs>
              <a:gs pos="100000">
                <a:srgbClr val="C81E3C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915177" y="1219169"/>
            <a:ext cx="761980" cy="152396"/>
          </a:xfrm>
          <a:prstGeom prst="roundRect">
            <a:avLst>
              <a:gd name="adj" fmla="val 5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91375" y="5105272"/>
            <a:ext cx="609584" cy="380990"/>
          </a:xfrm>
          <a:prstGeom prst="roundRect">
            <a:avLst>
              <a:gd name="adj" fmla="val 30000"/>
            </a:avLst>
          </a:prstGeom>
          <a:solidFill>
            <a:srgbClr val="2E2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345015"/>
            <a:ext cx="12191695" cy="4267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3C3C46"/>
                </a:solidFill>
                <a:latin typeface="PingFang SC"/>
                <a:ea typeface="PingFang SC"/>
              </a:rPr>
              <a:t>KEYNOTE · PRODUCT LAUNCH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E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594" cy="685782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377" y="1018768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三个卖点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377" y="1904952"/>
            <a:ext cx="990575" cy="114297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37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17171D"/>
          </a:solidFill>
          <a:ln w="3048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5367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5484D"/>
                </a:solidFill>
                <a:latin typeface="PingFang SC"/>
                <a:ea typeface="PingFang SC"/>
              </a:rPr>
              <a:t>极速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A9AA6"/>
                </a:solidFill>
                <a:latin typeface="PingFang SC"/>
                <a:ea typeface="PingFang SC"/>
              </a:rPr>
              <a:t>本地优先，秒级响应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5687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17171D"/>
          </a:solidFill>
          <a:ln w="3048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667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5484D"/>
                </a:solidFill>
                <a:latin typeface="PingFang SC"/>
                <a:ea typeface="PingFang SC"/>
              </a:rPr>
              <a:t>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67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A9AA6"/>
                </a:solidFill>
                <a:latin typeface="PingFang SC"/>
                <a:ea typeface="PingFang SC"/>
              </a:rPr>
              <a:t>多人实时同稿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6998" y="2666933"/>
            <a:ext cx="3124121" cy="2362140"/>
          </a:xfrm>
          <a:prstGeom prst="roundRect">
            <a:avLst>
              <a:gd name="adj" fmla="val 12903"/>
            </a:avLst>
          </a:prstGeom>
          <a:solidFill>
            <a:srgbClr val="17171D"/>
          </a:solidFill>
          <a:ln w="3048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7988" y="3148505"/>
            <a:ext cx="2362140" cy="7315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E5484D"/>
                </a:solidFill>
                <a:latin typeface="PingFang SC"/>
                <a:ea typeface="PingFang SC"/>
              </a:rPr>
              <a:t>开放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7988" y="3999638"/>
            <a:ext cx="2362140" cy="54862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700" b="0">
                <a:solidFill>
                  <a:srgbClr val="9A9AA6"/>
                </a:solidFill>
                <a:latin typeface="PingFang SC"/>
                <a:ea typeface="PingFang SC"/>
              </a:rPr>
              <a:t>API 全打通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377" y="5781911"/>
            <a:ext cx="10667733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A9AA6"/>
                </a:solidFill>
                <a:latin typeface="PingFang SC"/>
                <a:ea typeface="PingFang SC"/>
              </a:rPr>
              <a:t>一场发布会 · 一件新品 · 三个卖点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E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377" y="866372"/>
            <a:ext cx="10667733" cy="103629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5100" b="1">
                <a:solidFill>
                  <a:srgbClr val="FFFFFF"/>
                </a:solidFill>
                <a:latin typeface="PingFang SC"/>
                <a:ea typeface="PingFang SC"/>
              </a:rPr>
              <a:t>发布首周数据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377" y="1752556"/>
            <a:ext cx="990575" cy="114297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377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17171D"/>
          </a:solidFill>
          <a:ln w="3048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5367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E5484D"/>
                </a:solidFill>
                <a:latin typeface="PingFang SC"/>
                <a:ea typeface="PingFang SC"/>
              </a:rPr>
              <a:t>12万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367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A9AA6"/>
                </a:solidFill>
                <a:latin typeface="PingFang SC"/>
                <a:ea typeface="PingFang SC"/>
              </a:rPr>
              <a:t>预约用户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9489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17171D"/>
          </a:solidFill>
          <a:ln w="3048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479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E5484D"/>
                </a:solidFill>
                <a:latin typeface="PingFang SC"/>
                <a:ea typeface="PingFang SC"/>
              </a:rPr>
              <a:t>4.2%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479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A9AA6"/>
                </a:solidFill>
                <a:latin typeface="PingFang SC"/>
                <a:ea typeface="PingFang SC"/>
              </a:rPr>
              <a:t>预约转化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4601" y="2362140"/>
            <a:ext cx="3200319" cy="1523961"/>
          </a:xfrm>
          <a:prstGeom prst="roundRect">
            <a:avLst>
              <a:gd name="adj" fmla="val 15000"/>
            </a:avLst>
          </a:prstGeom>
          <a:solidFill>
            <a:srgbClr val="17171D"/>
          </a:solidFill>
          <a:ln w="30480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5592" y="2737797"/>
            <a:ext cx="2514537" cy="792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900" b="1">
                <a:solidFill>
                  <a:srgbClr val="E5484D"/>
                </a:solidFill>
                <a:latin typeface="PingFang SC"/>
                <a:ea typeface="PingFang SC"/>
              </a:rPr>
              <a:t>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592" y="3419770"/>
            <a:ext cx="2514537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A9AA6"/>
                </a:solidFill>
                <a:latin typeface="PingFang SC"/>
                <a:ea typeface="PingFang SC"/>
              </a:rPr>
              <a:t>好评率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142971" y="4952876"/>
            <a:ext cx="1752556" cy="304792"/>
          </a:xfrm>
          <a:prstGeom prst="line">
            <a:avLst/>
          </a:prstGeom>
          <a:ln w="76200">
            <a:solidFill>
              <a:srgbClr val="E548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95527" y="4952876"/>
            <a:ext cx="1828754" cy="152396"/>
          </a:xfrm>
          <a:prstGeom prst="line">
            <a:avLst/>
          </a:prstGeom>
          <a:ln w="76200">
            <a:solidFill>
              <a:srgbClr val="E548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724281" y="4267093"/>
            <a:ext cx="1828755" cy="838179"/>
          </a:xfrm>
          <a:prstGeom prst="line">
            <a:avLst/>
          </a:prstGeom>
          <a:ln w="76200">
            <a:solidFill>
              <a:srgbClr val="E548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553036" y="3657508"/>
            <a:ext cx="1828754" cy="609585"/>
          </a:xfrm>
          <a:prstGeom prst="line">
            <a:avLst/>
          </a:prstGeom>
          <a:ln w="76200">
            <a:solidFill>
              <a:srgbClr val="E548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381790" y="2666933"/>
            <a:ext cx="2285943" cy="990575"/>
          </a:xfrm>
          <a:prstGeom prst="line">
            <a:avLst/>
          </a:prstGeom>
          <a:ln w="76200">
            <a:solidFill>
              <a:srgbClr val="E5484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0553436" y="2552636"/>
            <a:ext cx="228594" cy="22859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14377" y="6019649"/>
            <a:ext cx="10362941" cy="0"/>
          </a:xfrm>
          <a:prstGeom prst="line">
            <a:avLst/>
          </a:prstGeom>
          <a:ln w="38100">
            <a:solidFill>
              <a:srgbClr val="59222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377" y="5477119"/>
            <a:ext cx="4571885" cy="4876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0">
                <a:solidFill>
                  <a:srgbClr val="9A9AA6"/>
                </a:solidFill>
                <a:latin typeface="PingFang SC"/>
                <a:ea typeface="PingFang SC"/>
              </a:rPr>
              <a:t>上线 7 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E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46540"/>
            <a:ext cx="12191695" cy="1341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PingFang SC"/>
                <a:ea typeface="PingFang SC"/>
              </a:rPr>
              <a:t>立即体验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064" y="3733706"/>
            <a:ext cx="1371565" cy="114297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4350911"/>
            <a:ext cx="12191695" cy="6095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9A9AA6"/>
                </a:solidFill>
                <a:latin typeface="PingFang SC"/>
                <a:ea typeface="PingFang SC"/>
              </a:rPr>
              <a:t>一场发布会 · 一件新品 · 三个卖点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