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D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377" y="914377"/>
            <a:ext cx="2743131" cy="68578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104110"/>
            <a:ext cx="2743131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PingFang SC"/>
                <a:ea typeface="PingFang SC"/>
              </a:rPr>
              <a:t>双 11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2161739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GMV 3.2 亿 · 同比 +47%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3085260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8A6E0"/>
                </a:solidFill>
                <a:latin typeface="PingFang SC"/>
                <a:ea typeface="PingFang SC"/>
              </a:rPr>
              <a:t>全渠道成交 · 履约准时率 98.6%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377" y="3962300"/>
            <a:ext cx="7619809" cy="380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8979" y="4067454"/>
            <a:ext cx="3428914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CD9A8"/>
                </a:solidFill>
                <a:latin typeface="PingFang SC"/>
                <a:ea typeface="PingFang SC"/>
              </a:rPr>
              <a:t>支付 3.2 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377" y="4648083"/>
            <a:ext cx="5714857" cy="38099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026" y="4753237"/>
            <a:ext cx="3428914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9C0D8"/>
                </a:solidFill>
                <a:latin typeface="PingFang SC"/>
                <a:ea typeface="PingFang SC"/>
              </a:rPr>
              <a:t>下单 4.1 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77" y="5333866"/>
            <a:ext cx="3809904" cy="38099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074" y="5439020"/>
            <a:ext cx="3428914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9B4F2"/>
                </a:solidFill>
                <a:latin typeface="PingFang SC"/>
                <a:ea typeface="PingFang SC"/>
              </a:rPr>
              <a:t>加购 6.8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9" y="1840183"/>
            <a:ext cx="3657508" cy="9143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4500" b="1">
                <a:solidFill>
                  <a:srgbClr val="F59E0B"/>
                </a:solidFill>
                <a:latin typeface="PingFang SC"/>
                <a:ea typeface="PingFang SC"/>
              </a:rPr>
              <a:t>+47%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9" y="2581591"/>
            <a:ext cx="3657508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同比增速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D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大促节奏复盘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蓄水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8A6E0"/>
                </a:solidFill>
                <a:latin typeface="PingFang SC"/>
                <a:ea typeface="PingFang SC"/>
              </a:rPr>
              <a:t>种草提前 21 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8A6E0"/>
                </a:solidFill>
                <a:latin typeface="PingFang SC"/>
                <a:ea typeface="PingFang SC"/>
              </a:rPr>
              <a:t>直播开卖 4 小时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返场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8A6E0"/>
                </a:solidFill>
                <a:latin typeface="PingFang SC"/>
                <a:ea typeface="PingFang SC"/>
              </a:rPr>
              <a:t>库存精准补货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8A6E0"/>
                </a:solidFill>
                <a:latin typeface="PingFang SC"/>
                <a:ea typeface="PingFang SC"/>
              </a:rPr>
              <a:t>会员复购专项先行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D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成交漏斗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3.2亿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8A6E0"/>
                </a:solidFill>
                <a:latin typeface="PingFang SC"/>
                <a:ea typeface="PingFang SC"/>
              </a:rPr>
              <a:t>GMV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+47%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8A6E0"/>
                </a:solidFill>
                <a:latin typeface="PingFang SC"/>
                <a:ea typeface="PingFang SC"/>
              </a:rPr>
              <a:t>同比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A2766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98.6%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8A6E0"/>
                </a:solidFill>
                <a:latin typeface="PingFang SC"/>
                <a:ea typeface="PingFang SC"/>
              </a:rPr>
              <a:t>履约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7349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8A6E0"/>
                </a:solidFill>
                <a:latin typeface="PingFang SC"/>
                <a:ea typeface="PingFang SC"/>
              </a:rPr>
              <a:t>全渠道口径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D1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蓄水双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B8A6E0"/>
                </a:solidFill>
                <a:latin typeface="PingFang SC"/>
                <a:ea typeface="PingFang SC"/>
              </a:rPr>
              <a:t>会员复购专项先行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