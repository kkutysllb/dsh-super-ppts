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377" y="1208501"/>
            <a:ext cx="7619809" cy="1584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800" b="1">
                <a:solidFill>
                  <a:srgbClr val="111111"/>
                </a:solidFill>
                <a:latin typeface="PingFang SC"/>
                <a:ea typeface="PingFang SC"/>
              </a:rPr>
              <a:t>城市观察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377" y="2438339"/>
            <a:ext cx="838179" cy="114297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19809" y="1256506"/>
            <a:ext cx="3657508" cy="5486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2700" b="0">
                <a:solidFill>
                  <a:srgbClr val="D9A441"/>
                </a:solidFill>
                <a:latin typeface="PingFang SC"/>
                <a:ea typeface="PingFang SC"/>
              </a:rPr>
              <a:t>VOL.12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377" y="3276518"/>
            <a:ext cx="4190895" cy="304792"/>
          </a:xfrm>
          <a:prstGeom prst="roundRect">
            <a:avLst>
              <a:gd name="adj" fmla="val 50000"/>
            </a:avLst>
          </a:prstGeom>
          <a:solidFill>
            <a:srgbClr val="E2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377" y="3886102"/>
            <a:ext cx="3657508" cy="304792"/>
          </a:xfrm>
          <a:prstGeom prst="roundRect">
            <a:avLst>
              <a:gd name="adj" fmla="val 50000"/>
            </a:avLst>
          </a:prstGeom>
          <a:solidFill>
            <a:srgbClr val="E2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377" y="4495687"/>
            <a:ext cx="3962300" cy="304792"/>
          </a:xfrm>
          <a:prstGeom prst="roundRect">
            <a:avLst>
              <a:gd name="adj" fmla="val 50000"/>
            </a:avLst>
          </a:prstGeom>
          <a:solidFill>
            <a:srgbClr val="E2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377" y="5105272"/>
            <a:ext cx="2743131" cy="304792"/>
          </a:xfrm>
          <a:prstGeom prst="roundRect">
            <a:avLst>
              <a:gd name="adj" fmla="val 50000"/>
            </a:avLst>
          </a:prstGeom>
          <a:solidFill>
            <a:srgbClr val="E2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639" y="3047923"/>
            <a:ext cx="4876678" cy="2666933"/>
          </a:xfrm>
          <a:prstGeom prst="roundRect">
            <a:avLst>
              <a:gd name="adj" fmla="val 5714"/>
            </a:avLst>
          </a:prstGeom>
          <a:solidFill>
            <a:srgbClr val="E8D9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153196" y="3352716"/>
            <a:ext cx="1371565" cy="1371565"/>
          </a:xfrm>
          <a:prstGeom prst="ellipse">
            <a:avLst/>
          </a:prstGeom>
          <a:solidFill>
            <a:srgbClr val="DBAC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6400639" y="5714857"/>
            <a:ext cx="4876679" cy="0"/>
          </a:xfrm>
          <a:prstGeom prst="line">
            <a:avLst/>
          </a:prstGeom>
          <a:ln w="3810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14377" y="6086703"/>
            <a:ext cx="5714857" cy="4876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0">
                <a:solidFill>
                  <a:srgbClr val="A39A88"/>
                </a:solidFill>
                <a:latin typeface="PingFang SC"/>
                <a:ea typeface="PingFang SC"/>
              </a:rPr>
              <a:t>深度 · 长文 · 图文分栏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19809" y="6086703"/>
            <a:ext cx="3657508" cy="4876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2400" b="0">
                <a:solidFill>
                  <a:srgbClr val="A39A88"/>
                </a:solidFill>
                <a:latin typeface="PingFang SC"/>
                <a:ea typeface="PingFang SC"/>
              </a:rPr>
              <a:t>P.24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594" cy="685782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377" y="1018768"/>
            <a:ext cx="10667733" cy="103629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5100" b="1">
                <a:solidFill>
                  <a:srgbClr val="111111"/>
                </a:solidFill>
                <a:latin typeface="PingFang SC"/>
                <a:ea typeface="PingFang SC"/>
              </a:rPr>
              <a:t>本期专题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377" y="1904952"/>
            <a:ext cx="990575" cy="114297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377" y="2666933"/>
            <a:ext cx="3124121" cy="2362140"/>
          </a:xfrm>
          <a:prstGeom prst="roundRect">
            <a:avLst>
              <a:gd name="adj" fmla="val 12903"/>
            </a:avLst>
          </a:prstGeom>
          <a:solidFill>
            <a:srgbClr val="F1ECE1"/>
          </a:solidFill>
          <a:ln w="30480">
            <a:solidFill>
              <a:srgbClr val="D9A4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95367" y="3148505"/>
            <a:ext cx="2362140" cy="7315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600" b="1">
                <a:solidFill>
                  <a:srgbClr val="D9A441"/>
                </a:solidFill>
                <a:latin typeface="PingFang SC"/>
                <a:ea typeface="PingFang SC"/>
              </a:rPr>
              <a:t>街区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5367" y="3999638"/>
            <a:ext cx="2362140" cy="5486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700" b="0">
                <a:solidFill>
                  <a:srgbClr val="A39A88"/>
                </a:solidFill>
                <a:latin typeface="PingFang SC"/>
                <a:ea typeface="PingFang SC"/>
              </a:rPr>
              <a:t>菜市场里的城市史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95687" y="2666933"/>
            <a:ext cx="3124121" cy="2362140"/>
          </a:xfrm>
          <a:prstGeom prst="roundRect">
            <a:avLst>
              <a:gd name="adj" fmla="val 12903"/>
            </a:avLst>
          </a:prstGeom>
          <a:solidFill>
            <a:srgbClr val="F1ECE1"/>
          </a:solidFill>
          <a:ln w="30480">
            <a:solidFill>
              <a:srgbClr val="D9A4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76678" y="3148505"/>
            <a:ext cx="2362140" cy="7315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600" b="1">
                <a:solidFill>
                  <a:srgbClr val="D9A441"/>
                </a:solidFill>
                <a:latin typeface="PingFang SC"/>
                <a:ea typeface="PingFang SC"/>
              </a:rPr>
              <a:t>人物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76678" y="3999638"/>
            <a:ext cx="2362140" cy="5486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700" b="0">
                <a:solidFill>
                  <a:srgbClr val="A39A88"/>
                </a:solidFill>
                <a:latin typeface="PingFang SC"/>
                <a:ea typeface="PingFang SC"/>
              </a:rPr>
              <a:t>守桥人十二年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76998" y="2666933"/>
            <a:ext cx="3124121" cy="2362140"/>
          </a:xfrm>
          <a:prstGeom prst="roundRect">
            <a:avLst>
              <a:gd name="adj" fmla="val 12903"/>
            </a:avLst>
          </a:prstGeom>
          <a:solidFill>
            <a:srgbClr val="F1ECE1"/>
          </a:solidFill>
          <a:ln w="30480">
            <a:solidFill>
              <a:srgbClr val="D9A4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7988" y="3148505"/>
            <a:ext cx="2362140" cy="7315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600" b="1">
                <a:solidFill>
                  <a:srgbClr val="D9A441"/>
                </a:solidFill>
                <a:latin typeface="PingFang SC"/>
                <a:ea typeface="PingFang SC"/>
              </a:rPr>
              <a:t>未来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7988" y="3999638"/>
            <a:ext cx="2362140" cy="5486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700" b="0">
                <a:solidFill>
                  <a:srgbClr val="A39A88"/>
                </a:solidFill>
                <a:latin typeface="PingFang SC"/>
                <a:ea typeface="PingFang SC"/>
              </a:rPr>
              <a:t>15 分钟生活圈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377" y="5781911"/>
            <a:ext cx="10667733" cy="4876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0">
                <a:solidFill>
                  <a:srgbClr val="A39A88"/>
                </a:solidFill>
                <a:latin typeface="PingFang SC"/>
                <a:ea typeface="PingFang SC"/>
              </a:rPr>
              <a:t>VOL.13 · 城市观察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377" y="866372"/>
            <a:ext cx="10667733" cy="103629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5100" b="1">
                <a:solidFill>
                  <a:srgbClr val="111111"/>
                </a:solidFill>
                <a:latin typeface="PingFang SC"/>
                <a:ea typeface="PingFang SC"/>
              </a:rPr>
              <a:t>读者数据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377" y="1752556"/>
            <a:ext cx="990575" cy="114297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377" y="2362140"/>
            <a:ext cx="3200319" cy="1523961"/>
          </a:xfrm>
          <a:prstGeom prst="roundRect">
            <a:avLst>
              <a:gd name="adj" fmla="val 15000"/>
            </a:avLst>
          </a:prstGeom>
          <a:solidFill>
            <a:srgbClr val="F1ECE1"/>
          </a:solidFill>
          <a:ln w="30480">
            <a:solidFill>
              <a:srgbClr val="D9A4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95367" y="2737797"/>
            <a:ext cx="2514537" cy="792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900" b="1">
                <a:solidFill>
                  <a:srgbClr val="D9A441"/>
                </a:solidFill>
                <a:latin typeface="PingFang SC"/>
                <a:ea typeface="PingFang SC"/>
              </a:rPr>
              <a:t>24页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5367" y="3419770"/>
            <a:ext cx="2514537" cy="4876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0">
                <a:solidFill>
                  <a:srgbClr val="A39A88"/>
                </a:solidFill>
                <a:latin typeface="PingFang SC"/>
                <a:ea typeface="PingFang SC"/>
              </a:rPr>
              <a:t>本期专题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19489" y="2362140"/>
            <a:ext cx="3200319" cy="1523961"/>
          </a:xfrm>
          <a:prstGeom prst="roundRect">
            <a:avLst>
              <a:gd name="adj" fmla="val 15000"/>
            </a:avLst>
          </a:prstGeom>
          <a:solidFill>
            <a:srgbClr val="F1ECE1"/>
          </a:solidFill>
          <a:ln w="30480">
            <a:solidFill>
              <a:srgbClr val="D9A4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0479" y="2737797"/>
            <a:ext cx="2514537" cy="792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900" b="1">
                <a:solidFill>
                  <a:srgbClr val="D9A441"/>
                </a:solidFill>
                <a:latin typeface="PingFang SC"/>
                <a:ea typeface="PingFang SC"/>
              </a:rPr>
              <a:t>38%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479" y="3419770"/>
            <a:ext cx="2514537" cy="4876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0">
                <a:solidFill>
                  <a:srgbClr val="A39A88"/>
                </a:solidFill>
                <a:latin typeface="PingFang SC"/>
                <a:ea typeface="PingFang SC"/>
              </a:rPr>
              <a:t>完读率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24601" y="2362140"/>
            <a:ext cx="3200319" cy="1523961"/>
          </a:xfrm>
          <a:prstGeom prst="roundRect">
            <a:avLst>
              <a:gd name="adj" fmla="val 15000"/>
            </a:avLst>
          </a:prstGeom>
          <a:solidFill>
            <a:srgbClr val="F1ECE1"/>
          </a:solidFill>
          <a:ln w="30480">
            <a:solidFill>
              <a:srgbClr val="D9A4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5592" y="2737797"/>
            <a:ext cx="2514537" cy="792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900" b="1">
                <a:solidFill>
                  <a:srgbClr val="D9A441"/>
                </a:solidFill>
                <a:latin typeface="PingFang SC"/>
                <a:ea typeface="PingFang SC"/>
              </a:rPr>
              <a:t>12万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5592" y="3419770"/>
            <a:ext cx="2514537" cy="4876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0">
                <a:solidFill>
                  <a:srgbClr val="A39A88"/>
                </a:solidFill>
                <a:latin typeface="PingFang SC"/>
                <a:ea typeface="PingFang SC"/>
              </a:rPr>
              <a:t>月度读者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1142971" y="4952876"/>
            <a:ext cx="1752556" cy="304792"/>
          </a:xfrm>
          <a:prstGeom prst="line">
            <a:avLst/>
          </a:prstGeom>
          <a:ln w="76200">
            <a:solidFill>
              <a:srgbClr val="D9A4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895527" y="4952876"/>
            <a:ext cx="1828754" cy="152396"/>
          </a:xfrm>
          <a:prstGeom prst="line">
            <a:avLst/>
          </a:prstGeom>
          <a:ln w="76200">
            <a:solidFill>
              <a:srgbClr val="D9A4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4724281" y="4267093"/>
            <a:ext cx="1828755" cy="838179"/>
          </a:xfrm>
          <a:prstGeom prst="line">
            <a:avLst/>
          </a:prstGeom>
          <a:ln w="76200">
            <a:solidFill>
              <a:srgbClr val="D9A4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6553036" y="3657508"/>
            <a:ext cx="1828754" cy="609585"/>
          </a:xfrm>
          <a:prstGeom prst="line">
            <a:avLst/>
          </a:prstGeom>
          <a:ln w="76200">
            <a:solidFill>
              <a:srgbClr val="D9A4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8381790" y="2666933"/>
            <a:ext cx="2285943" cy="990575"/>
          </a:xfrm>
          <a:prstGeom prst="line">
            <a:avLst/>
          </a:prstGeom>
          <a:ln w="76200">
            <a:solidFill>
              <a:srgbClr val="D9A4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10553436" y="2552636"/>
            <a:ext cx="228594" cy="228594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914377" y="6019649"/>
            <a:ext cx="10362941" cy="0"/>
          </a:xfrm>
          <a:prstGeom prst="line">
            <a:avLst/>
          </a:prstGeom>
          <a:ln w="38100">
            <a:solidFill>
              <a:srgbClr val="EEDA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14377" y="5477119"/>
            <a:ext cx="4571885" cy="4876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0">
                <a:solidFill>
                  <a:srgbClr val="A39A88"/>
                </a:solidFill>
                <a:latin typeface="PingFang SC"/>
                <a:ea typeface="PingFang SC"/>
              </a:rPr>
              <a:t>纸质 + 电子合刊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546540"/>
            <a:ext cx="12191695" cy="13410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600" b="1">
                <a:solidFill>
                  <a:srgbClr val="111111"/>
                </a:solidFill>
                <a:latin typeface="PingFang SC"/>
                <a:ea typeface="PingFang SC"/>
              </a:rPr>
              <a:t>下期预告：夜航</a:t>
            </a:r>
          </a:p>
        </p:txBody>
      </p:sp>
      <p:sp>
        <p:nvSpPr>
          <p:cNvPr id="4" name="Rectangle 3"/>
          <p:cNvSpPr/>
          <p:nvPr/>
        </p:nvSpPr>
        <p:spPr>
          <a:xfrm>
            <a:off x="5410064" y="3733706"/>
            <a:ext cx="1371565" cy="114297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4350911"/>
            <a:ext cx="12191695" cy="6095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3000" b="0">
                <a:solidFill>
                  <a:srgbClr val="A39A88"/>
                </a:solidFill>
                <a:latin typeface="PingFang SC"/>
                <a:ea typeface="PingFang SC"/>
              </a:rPr>
              <a:t>VOL.13 · 城市观察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