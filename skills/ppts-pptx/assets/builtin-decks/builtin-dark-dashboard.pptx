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714457"/>
            <a:ext cx="12191695" cy="0"/>
          </a:xfrm>
          <a:prstGeom prst="line">
            <a:avLst/>
          </a:prstGeom>
          <a:ln w="38100">
            <a:solidFill>
              <a:srgbClr val="1620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3428914"/>
            <a:ext cx="12191695" cy="0"/>
          </a:xfrm>
          <a:prstGeom prst="line">
            <a:avLst/>
          </a:prstGeom>
          <a:ln w="38100">
            <a:solidFill>
              <a:srgbClr val="1620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5143371"/>
            <a:ext cx="12191695" cy="0"/>
          </a:xfrm>
          <a:prstGeom prst="line">
            <a:avLst/>
          </a:prstGeom>
          <a:ln w="38100">
            <a:solidFill>
              <a:srgbClr val="1620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7923" y="0"/>
            <a:ext cx="0" cy="6857828"/>
          </a:xfrm>
          <a:prstGeom prst="line">
            <a:avLst/>
          </a:prstGeom>
          <a:ln w="38100">
            <a:solidFill>
              <a:srgbClr val="1620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0"/>
            <a:ext cx="0" cy="6857828"/>
          </a:xfrm>
          <a:prstGeom prst="line">
            <a:avLst/>
          </a:prstGeom>
          <a:ln w="38100">
            <a:solidFill>
              <a:srgbClr val="1620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3771" y="0"/>
            <a:ext cx="0" cy="6857828"/>
          </a:xfrm>
          <a:prstGeom prst="line">
            <a:avLst/>
          </a:prstGeom>
          <a:ln w="38100">
            <a:solidFill>
              <a:srgbClr val="1620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377" y="905233"/>
            <a:ext cx="7619809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22D3EE"/>
                </a:solidFill>
                <a:latin typeface="PingFang SC"/>
                <a:ea typeface="PingFang SC"/>
              </a:rPr>
              <a:t>REALTIME 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77" y="1658070"/>
            <a:ext cx="8381790" cy="975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ingFang SC"/>
                <a:ea typeface="PingFang SC"/>
              </a:rPr>
              <a:t>双 11 实时作战室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77" y="3113454"/>
            <a:ext cx="6095847" cy="1584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0" b="1">
                <a:solidFill>
                  <a:srgbClr val="22D3EE"/>
                </a:solidFill>
                <a:latin typeface="PingFang SC"/>
                <a:ea typeface="PingFang SC"/>
              </a:rPr>
              <a:t>128.4万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77" y="4304430"/>
            <a:ext cx="6095847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5B6B8C"/>
                </a:solidFill>
                <a:latin typeface="PingFang SC"/>
                <a:ea typeface="PingFang SC"/>
              </a:rPr>
              <a:t>实时成交订单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714857" y="3962300"/>
            <a:ext cx="1066773" cy="609585"/>
          </a:xfrm>
          <a:prstGeom prst="line">
            <a:avLst/>
          </a:prstGeom>
          <a:ln w="762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81630" y="3962300"/>
            <a:ext cx="1066773" cy="304793"/>
          </a:xfrm>
          <a:prstGeom prst="line">
            <a:avLst/>
          </a:prstGeom>
          <a:ln w="762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848403" y="3352716"/>
            <a:ext cx="1066774" cy="914377"/>
          </a:xfrm>
          <a:prstGeom prst="line">
            <a:avLst/>
          </a:prstGeom>
          <a:ln w="762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15177" y="3352716"/>
            <a:ext cx="1066773" cy="152396"/>
          </a:xfrm>
          <a:prstGeom prst="line">
            <a:avLst/>
          </a:prstGeom>
          <a:ln w="762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981950" y="2438339"/>
            <a:ext cx="1295368" cy="1066773"/>
          </a:xfrm>
          <a:prstGeom prst="line">
            <a:avLst/>
          </a:prstGeom>
          <a:ln w="762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163020" y="2324041"/>
            <a:ext cx="228594" cy="22859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14857" y="5029074"/>
            <a:ext cx="2666933" cy="990575"/>
          </a:xfrm>
          <a:prstGeom prst="roundRect">
            <a:avLst>
              <a:gd name="adj" fmla="val 23076"/>
            </a:avLst>
          </a:prstGeom>
          <a:solidFill>
            <a:srgbClr val="0F1830"/>
          </a:solidFill>
          <a:ln w="38100">
            <a:solidFill>
              <a:srgbClr val="1D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4857" y="5439020"/>
            <a:ext cx="26669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8EA3CC"/>
                </a:solidFill>
                <a:latin typeface="PingFang SC"/>
                <a:ea typeface="PingFang SC"/>
              </a:rPr>
              <a:t>支付成功率 99.2%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582" y="5029074"/>
            <a:ext cx="2666933" cy="990575"/>
          </a:xfrm>
          <a:prstGeom prst="roundRect">
            <a:avLst>
              <a:gd name="adj" fmla="val 23076"/>
            </a:avLst>
          </a:prstGeom>
          <a:solidFill>
            <a:srgbClr val="0F1830"/>
          </a:solidFill>
          <a:ln w="38100">
            <a:solidFill>
              <a:srgbClr val="1D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582" y="5439020"/>
            <a:ext cx="26669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8EA3CC"/>
                </a:solidFill>
                <a:latin typeface="PingFang SC"/>
                <a:ea typeface="PingFang SC"/>
              </a:rPr>
              <a:t>峰值 QPS 42万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ingFang SC"/>
                <a:ea typeface="PingFang SC"/>
              </a:rPr>
              <a:t>实时链路监控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0F1830"/>
          </a:solidFill>
          <a:ln w="304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22D3EE"/>
                </a:solidFill>
                <a:latin typeface="PingFang SC"/>
                <a:ea typeface="PingFang SC"/>
              </a:rPr>
              <a:t>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5B6B8C"/>
                </a:solidFill>
                <a:latin typeface="PingFang SC"/>
                <a:ea typeface="PingFang SC"/>
              </a:rPr>
              <a:t>网关与 WAF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0F1830"/>
          </a:solidFill>
          <a:ln w="304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22D3EE"/>
                </a:solidFill>
                <a:latin typeface="PingFang SC"/>
                <a:ea typeface="PingFang SC"/>
              </a:rPr>
              <a:t>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5B6B8C"/>
                </a:solidFill>
                <a:latin typeface="PingFang SC"/>
                <a:ea typeface="PingFang SC"/>
              </a:rPr>
              <a:t>交易集群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0F1830"/>
          </a:solidFill>
          <a:ln w="304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22D3EE"/>
                </a:solidFill>
                <a:latin typeface="PingFang SC"/>
                <a:ea typeface="PingFang SC"/>
              </a:rPr>
              <a:t>出口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5B6B8C"/>
                </a:solidFill>
                <a:latin typeface="PingFang SC"/>
                <a:ea typeface="PingFang SC"/>
              </a:rPr>
              <a:t>支付通道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5B6B8C"/>
                </a:solidFill>
                <a:latin typeface="PingFang SC"/>
                <a:ea typeface="PingFang SC"/>
              </a:rPr>
              <a:t>异常处置手册 v3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ingFang SC"/>
                <a:ea typeface="PingFang SC"/>
              </a:rPr>
              <a:t>核心指标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0F1830"/>
          </a:solidFill>
          <a:ln w="304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22D3EE"/>
                </a:solidFill>
                <a:latin typeface="PingFang SC"/>
                <a:ea typeface="PingFang SC"/>
              </a:rPr>
              <a:t>128.4万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5B6B8C"/>
                </a:solidFill>
                <a:latin typeface="PingFang SC"/>
                <a:ea typeface="PingFang SC"/>
              </a:rPr>
              <a:t>实时成交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0F1830"/>
          </a:solidFill>
          <a:ln w="304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22D3EE"/>
                </a:solidFill>
                <a:latin typeface="PingFang SC"/>
                <a:ea typeface="PingFang SC"/>
              </a:rPr>
              <a:t>99.2%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5B6B8C"/>
                </a:solidFill>
                <a:latin typeface="PingFang SC"/>
                <a:ea typeface="PingFang SC"/>
              </a:rPr>
              <a:t>支付成功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0F1830"/>
          </a:solidFill>
          <a:ln w="304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22D3EE"/>
                </a:solidFill>
                <a:latin typeface="PingFang SC"/>
                <a:ea typeface="PingFang SC"/>
              </a:rPr>
              <a:t>42万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5B6B8C"/>
                </a:solidFill>
                <a:latin typeface="PingFang SC"/>
                <a:ea typeface="PingFang SC"/>
              </a:rPr>
              <a:t>峰值 QPS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125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5B6B8C"/>
                </a:solidFill>
                <a:latin typeface="PingFang SC"/>
                <a:ea typeface="PingFang SC"/>
              </a:rPr>
              <a:t>大促当日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PingFang SC"/>
                <a:ea typeface="PingFang SC"/>
              </a:rPr>
              <a:t>值守交接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5B6B8C"/>
                </a:solidFill>
                <a:latin typeface="PingFang SC"/>
                <a:ea typeface="PingFang SC"/>
              </a:rPr>
              <a:t>异常处置手册 v3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