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96089"/>
            <a:ext cx="7619809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F2937"/>
                </a:solidFill>
                <a:latin typeface="PingFang SC"/>
                <a:ea typeface="PingFang SC"/>
              </a:rPr>
              <a:t>第 40 周工作汇报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77" y="1789893"/>
            <a:ext cx="7619809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892A4"/>
                </a:solidFill>
                <a:latin typeface="PingFang SC"/>
                <a:ea typeface="PingFang SC"/>
              </a:rPr>
              <a:t>进展 · 数据 · 下周计划</a:t>
            </a:r>
          </a:p>
        </p:txBody>
      </p:sp>
      <p:sp>
        <p:nvSpPr>
          <p:cNvPr id="5" name="Oval 4"/>
          <p:cNvSpPr/>
          <p:nvPr/>
        </p:nvSpPr>
        <p:spPr>
          <a:xfrm>
            <a:off x="990575" y="2743131"/>
            <a:ext cx="304792" cy="30479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159" y="2750751"/>
            <a:ext cx="6095847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0">
                <a:solidFill>
                  <a:srgbClr val="374151"/>
                </a:solidFill>
                <a:latin typeface="PingFang SC"/>
                <a:ea typeface="PingFang SC"/>
              </a:rPr>
              <a:t>上线灰度发布流程 v2</a:t>
            </a:r>
          </a:p>
        </p:txBody>
      </p:sp>
      <p:sp>
        <p:nvSpPr>
          <p:cNvPr id="7" name="Oval 6"/>
          <p:cNvSpPr/>
          <p:nvPr/>
        </p:nvSpPr>
        <p:spPr>
          <a:xfrm>
            <a:off x="990575" y="3581310"/>
            <a:ext cx="304792" cy="30479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159" y="3588930"/>
            <a:ext cx="6095847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0">
                <a:solidFill>
                  <a:srgbClr val="374151"/>
                </a:solidFill>
                <a:latin typeface="PingFang SC"/>
                <a:ea typeface="PingFang SC"/>
              </a:rPr>
              <a:t>完成三份客户访谈纪要</a:t>
            </a:r>
          </a:p>
        </p:txBody>
      </p:sp>
      <p:sp>
        <p:nvSpPr>
          <p:cNvPr id="9" name="Oval 8"/>
          <p:cNvSpPr/>
          <p:nvPr/>
        </p:nvSpPr>
        <p:spPr>
          <a:xfrm>
            <a:off x="990575" y="4419489"/>
            <a:ext cx="304792" cy="304792"/>
          </a:xfrm>
          <a:prstGeom prst="ellipse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159" y="4427109"/>
            <a:ext cx="6095847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0">
                <a:solidFill>
                  <a:srgbClr val="6B7280"/>
                </a:solidFill>
                <a:latin typeface="PingFang SC"/>
                <a:ea typeface="PingFang SC"/>
              </a:rPr>
              <a:t>排查构建耗时回归（进行中）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998" y="2438339"/>
            <a:ext cx="3200319" cy="2438339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38100">
            <a:solidFill>
              <a:srgbClr val="DB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6998" y="3046399"/>
            <a:ext cx="3200319" cy="10972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3B82F6"/>
                </a:solidFill>
                <a:latin typeface="PingFang SC"/>
                <a:ea typeface="PingFang SC"/>
              </a:rPr>
              <a:t>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998" y="4029355"/>
            <a:ext cx="3200319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8892A4"/>
                </a:solidFill>
                <a:latin typeface="PingFang SC"/>
                <a:ea typeface="PingFang SC"/>
              </a:rPr>
              <a:t>本周任务完成率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" y="5333866"/>
            <a:ext cx="4571885" cy="152396"/>
          </a:xfrm>
          <a:prstGeom prst="roundRect">
            <a:avLst>
              <a:gd name="adj" fmla="val 50000"/>
            </a:avLst>
          </a:prstGeom>
          <a:solidFill>
            <a:srgbClr val="DB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377" y="5333866"/>
            <a:ext cx="3924201" cy="1523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77" y="5934307"/>
            <a:ext cx="9524761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892A4"/>
                </a:solidFill>
                <a:latin typeface="PingFang SC"/>
                <a:ea typeface="PingFang SC"/>
              </a:rPr>
              <a:t>下周：发布复盘 · 季度 OKR 对齐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F2937"/>
                </a:solidFill>
                <a:latin typeface="PingFang SC"/>
                <a:ea typeface="PingFang SC"/>
              </a:rPr>
              <a:t>本周进展详情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B82F6"/>
                </a:solidFill>
                <a:latin typeface="PingFang SC"/>
                <a:ea typeface="PingFang SC"/>
              </a:rPr>
              <a:t>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892A4"/>
                </a:solidFill>
                <a:latin typeface="PingFang SC"/>
                <a:ea typeface="PingFang SC"/>
              </a:rPr>
              <a:t>灰度流程 v2 落地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B82F6"/>
                </a:solidFill>
                <a:latin typeface="PingFang SC"/>
                <a:ea typeface="PingFang SC"/>
              </a:rPr>
              <a:t>调研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892A4"/>
                </a:solidFill>
                <a:latin typeface="PingFang SC"/>
                <a:ea typeface="PingFang SC"/>
              </a:rPr>
              <a:t>三份客户访谈纪要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B82F6"/>
                </a:solidFill>
                <a:latin typeface="PingFang SC"/>
                <a:ea typeface="PingFang SC"/>
              </a:rPr>
              <a:t>排查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892A4"/>
                </a:solidFill>
                <a:latin typeface="PingFang SC"/>
                <a:ea typeface="PingFang SC"/>
              </a:rPr>
              <a:t>构建耗时回归定位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892A4"/>
                </a:solidFill>
                <a:latin typeface="PingFang SC"/>
                <a:ea typeface="PingFang SC"/>
              </a:rPr>
              <a:t>发布复盘 · 季度 OKR 对齐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F2937"/>
                </a:solidFill>
                <a:latin typeface="PingFang SC"/>
                <a:ea typeface="PingFang SC"/>
              </a:rPr>
              <a:t>任务完成趋势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3B82F6"/>
                </a:solidFill>
                <a:latin typeface="PingFang SC"/>
                <a:ea typeface="PingFang SC"/>
              </a:rPr>
              <a:t>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892A4"/>
                </a:solidFill>
                <a:latin typeface="PingFang SC"/>
                <a:ea typeface="PingFang SC"/>
              </a:rPr>
              <a:t>完成率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3B82F6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892A4"/>
                </a:solidFill>
                <a:latin typeface="PingFang SC"/>
                <a:ea typeface="PingFang SC"/>
              </a:rPr>
              <a:t>本周任务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3B82F6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892A4"/>
                </a:solidFill>
                <a:latin typeface="PingFang SC"/>
                <a:ea typeface="PingFang SC"/>
              </a:rPr>
              <a:t>顺延下周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B4CE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892A4"/>
                </a:solidFill>
                <a:latin typeface="PingFang SC"/>
                <a:ea typeface="PingFang SC"/>
              </a:rPr>
              <a:t>近 4 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F2937"/>
                </a:solidFill>
                <a:latin typeface="PingFang SC"/>
                <a:ea typeface="PingFang SC"/>
              </a:rPr>
              <a:t>下周计划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8892A4"/>
                </a:solidFill>
                <a:latin typeface="PingFang SC"/>
                <a:ea typeface="PingFang SC"/>
              </a:rPr>
              <a:t>发布复盘 · 季度 OKR 对齐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