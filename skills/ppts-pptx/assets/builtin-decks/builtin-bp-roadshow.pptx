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24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377" y="951714"/>
            <a:ext cx="7619809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D4A24E"/>
                </a:solidFill>
                <a:latin typeface="PingFang SC"/>
                <a:ea typeface="PingFang SC"/>
              </a:rPr>
              <a:t>BUSINESS PLAN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377" y="1721314"/>
            <a:ext cx="10667733" cy="11582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700" b="1">
                <a:solidFill>
                  <a:srgbClr val="FFFFFF"/>
                </a:solidFill>
                <a:latin typeface="PingFang SC"/>
                <a:ea typeface="PingFang SC"/>
              </a:rPr>
              <a:t>市场规模与增长路径</a:t>
            </a:r>
          </a:p>
        </p:txBody>
      </p:sp>
      <p:sp>
        <p:nvSpPr>
          <p:cNvPr id="5" name="Freeform 4"/>
          <p:cNvSpPr/>
          <p:nvPr/>
        </p:nvSpPr>
        <p:spPr>
          <a:xfrm>
            <a:off x="1066773" y="1981150"/>
            <a:ext cx="9143771" cy="3962301"/>
          </a:xfrm>
          <a:custGeom>
            <a:avLst/>
            <a:gdLst/>
            <a:ahLst/>
            <a:cxnLst/>
            <a:rect l="l" t="t" r="r" b="b"/>
            <a:pathLst>
              <a:path w="9143771" h="3962301">
                <a:moveTo>
                  <a:pt x="0" y="3276518"/>
                </a:moveTo>
                <a:lnTo>
                  <a:pt x="1828754" y="2895528"/>
                </a:lnTo>
                <a:lnTo>
                  <a:pt x="3657508" y="3047924"/>
                </a:lnTo>
                <a:lnTo>
                  <a:pt x="5486263" y="2133547"/>
                </a:lnTo>
                <a:lnTo>
                  <a:pt x="7315017" y="1219169"/>
                </a:lnTo>
                <a:lnTo>
                  <a:pt x="9143771" y="0"/>
                </a:lnTo>
                <a:lnTo>
                  <a:pt x="9143771" y="3962301"/>
                </a:lnTo>
                <a:lnTo>
                  <a:pt x="0" y="3962301"/>
                </a:lnTo>
                <a:close/>
              </a:path>
            </a:pathLst>
          </a:custGeom>
          <a:solidFill>
            <a:srgbClr val="39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1066773" y="4876678"/>
            <a:ext cx="1828754" cy="380990"/>
          </a:xfrm>
          <a:prstGeom prst="line">
            <a:avLst/>
          </a:prstGeom>
          <a:ln w="76200">
            <a:solidFill>
              <a:srgbClr val="D4A2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895527" y="4876678"/>
            <a:ext cx="1828754" cy="152396"/>
          </a:xfrm>
          <a:prstGeom prst="line">
            <a:avLst/>
          </a:prstGeom>
          <a:ln w="76200">
            <a:solidFill>
              <a:srgbClr val="D4A2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724281" y="4114697"/>
            <a:ext cx="1828755" cy="914377"/>
          </a:xfrm>
          <a:prstGeom prst="line">
            <a:avLst/>
          </a:prstGeom>
          <a:ln w="76200">
            <a:solidFill>
              <a:srgbClr val="D4A2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553036" y="3200319"/>
            <a:ext cx="1828754" cy="914378"/>
          </a:xfrm>
          <a:prstGeom prst="line">
            <a:avLst/>
          </a:prstGeom>
          <a:ln w="76200">
            <a:solidFill>
              <a:srgbClr val="D4A2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381790" y="1981150"/>
            <a:ext cx="1828754" cy="1219169"/>
          </a:xfrm>
          <a:prstGeom prst="line">
            <a:avLst/>
          </a:prstGeom>
          <a:ln w="76200">
            <a:solidFill>
              <a:srgbClr val="D4A2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19689" y="3981350"/>
            <a:ext cx="266693" cy="266693"/>
          </a:xfrm>
          <a:prstGeom prst="ellipse">
            <a:avLst/>
          </a:prstGeom>
          <a:solidFill>
            <a:srgbClr val="241A3E"/>
          </a:solidFill>
          <a:ln w="76200">
            <a:solidFill>
              <a:srgbClr val="D4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77198" y="1847803"/>
            <a:ext cx="266693" cy="266693"/>
          </a:xfrm>
          <a:prstGeom prst="ellipse">
            <a:avLst/>
          </a:prstGeom>
          <a:solidFill>
            <a:srgbClr val="D4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6773" y="6239100"/>
            <a:ext cx="3809904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D80B8"/>
                </a:solidFill>
                <a:latin typeface="PingFang SC"/>
                <a:ea typeface="PingFang SC"/>
              </a:rPr>
              <a:t>TAM 92亿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2876" y="6239100"/>
            <a:ext cx="609584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D80B8"/>
                </a:solidFill>
                <a:latin typeface="PingFang SC"/>
                <a:ea typeface="PingFang SC"/>
              </a:rPr>
              <a:t>种子轮 → A 轮 → 盈利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9809" y="786364"/>
            <a:ext cx="3505112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3600" b="1">
                <a:solidFill>
                  <a:srgbClr val="D4A24E"/>
                </a:solidFill>
                <a:latin typeface="PingFang SC"/>
                <a:ea typeface="PingFang SC"/>
              </a:rPr>
              <a:t>×6.8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24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594" cy="6857828"/>
          </a:xfrm>
          <a:prstGeom prst="rect">
            <a:avLst/>
          </a:prstGeom>
          <a:solidFill>
            <a:srgbClr val="D4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1018768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FFFFFF"/>
                </a:solidFill>
                <a:latin typeface="PingFang SC"/>
                <a:ea typeface="PingFang SC"/>
              </a:rPr>
              <a:t>商业模式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377" y="1904952"/>
            <a:ext cx="990575" cy="114297"/>
          </a:xfrm>
          <a:prstGeom prst="rect">
            <a:avLst/>
          </a:prstGeom>
          <a:solidFill>
            <a:srgbClr val="D4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37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2F2450"/>
          </a:solidFill>
          <a:ln w="30480">
            <a:solidFill>
              <a:srgbClr val="D4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5367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D4A24E"/>
                </a:solidFill>
                <a:latin typeface="PingFang SC"/>
                <a:ea typeface="PingFang SC"/>
              </a:rPr>
              <a:t>价值主张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8D80B8"/>
                </a:solidFill>
                <a:latin typeface="PingFang SC"/>
                <a:ea typeface="PingFang SC"/>
              </a:rPr>
              <a:t>给中小团队的研究底座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568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2F2450"/>
          </a:solidFill>
          <a:ln w="30480">
            <a:solidFill>
              <a:srgbClr val="D4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67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D4A24E"/>
                </a:solidFill>
                <a:latin typeface="PingFang SC"/>
                <a:ea typeface="PingFang SC"/>
              </a:rPr>
              <a:t>收费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8D80B8"/>
                </a:solidFill>
                <a:latin typeface="PingFang SC"/>
                <a:ea typeface="PingFang SC"/>
              </a:rPr>
              <a:t>席位 + 用量双轨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6998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2F2450"/>
          </a:solidFill>
          <a:ln w="30480">
            <a:solidFill>
              <a:srgbClr val="D4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798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D4A24E"/>
                </a:solidFill>
                <a:latin typeface="PingFang SC"/>
                <a:ea typeface="PingFang SC"/>
              </a:rPr>
              <a:t>壁垒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798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8D80B8"/>
                </a:solidFill>
                <a:latin typeface="PingFang SC"/>
                <a:ea typeface="PingFang SC"/>
              </a:rPr>
              <a:t>数据飞轮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77" y="5781911"/>
            <a:ext cx="1066773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D80B8"/>
                </a:solidFill>
                <a:latin typeface="PingFang SC"/>
                <a:ea typeface="PingFang SC"/>
              </a:rPr>
              <a:t>本轮融资用途：研发 60% · 市场 40%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24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377" y="866372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FFFFFF"/>
                </a:solidFill>
                <a:latin typeface="PingFang SC"/>
                <a:ea typeface="PingFang SC"/>
              </a:rPr>
              <a:t>增长与单位经济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377" y="1752556"/>
            <a:ext cx="990575" cy="114297"/>
          </a:xfrm>
          <a:prstGeom prst="rect">
            <a:avLst/>
          </a:prstGeom>
          <a:solidFill>
            <a:srgbClr val="D4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377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2F2450"/>
          </a:solidFill>
          <a:ln w="30480">
            <a:solidFill>
              <a:srgbClr val="D4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367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D4A24E"/>
                </a:solidFill>
                <a:latin typeface="PingFang SC"/>
                <a:ea typeface="PingFang SC"/>
              </a:rPr>
              <a:t>×6.8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367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D80B8"/>
                </a:solidFill>
                <a:latin typeface="PingFang SC"/>
                <a:ea typeface="PingFang SC"/>
              </a:rPr>
              <a:t>年增速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489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2F2450"/>
          </a:solidFill>
          <a:ln w="30480">
            <a:solidFill>
              <a:srgbClr val="D4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479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D4A24E"/>
                </a:solidFill>
                <a:latin typeface="PingFang SC"/>
                <a:ea typeface="PingFang SC"/>
              </a:rPr>
              <a:t>86%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479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D80B8"/>
                </a:solidFill>
                <a:latin typeface="PingFang SC"/>
                <a:ea typeface="PingFang SC"/>
              </a:rPr>
              <a:t>续费率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4601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2F2450"/>
          </a:solidFill>
          <a:ln w="30480">
            <a:solidFill>
              <a:srgbClr val="D4A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5592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D4A24E"/>
                </a:solidFill>
                <a:latin typeface="PingFang SC"/>
                <a:ea typeface="PingFang SC"/>
              </a:rPr>
              <a:t>11个月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592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D80B8"/>
                </a:solidFill>
                <a:latin typeface="PingFang SC"/>
                <a:ea typeface="PingFang SC"/>
              </a:rPr>
              <a:t>回本周期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142971" y="4952876"/>
            <a:ext cx="1752556" cy="304792"/>
          </a:xfrm>
          <a:prstGeom prst="line">
            <a:avLst/>
          </a:prstGeom>
          <a:ln w="76200">
            <a:solidFill>
              <a:srgbClr val="D4A2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95527" y="4952876"/>
            <a:ext cx="1828754" cy="152396"/>
          </a:xfrm>
          <a:prstGeom prst="line">
            <a:avLst/>
          </a:prstGeom>
          <a:ln w="76200">
            <a:solidFill>
              <a:srgbClr val="D4A2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24281" y="4267093"/>
            <a:ext cx="1828755" cy="838179"/>
          </a:xfrm>
          <a:prstGeom prst="line">
            <a:avLst/>
          </a:prstGeom>
          <a:ln w="76200">
            <a:solidFill>
              <a:srgbClr val="D4A2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553036" y="3657508"/>
            <a:ext cx="1828754" cy="609585"/>
          </a:xfrm>
          <a:prstGeom prst="line">
            <a:avLst/>
          </a:prstGeom>
          <a:ln w="76200">
            <a:solidFill>
              <a:srgbClr val="D4A2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381790" y="2666933"/>
            <a:ext cx="2285943" cy="990575"/>
          </a:xfrm>
          <a:prstGeom prst="line">
            <a:avLst/>
          </a:prstGeom>
          <a:ln w="76200">
            <a:solidFill>
              <a:srgbClr val="D4A2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553436" y="2552636"/>
            <a:ext cx="228594" cy="228594"/>
          </a:xfrm>
          <a:prstGeom prst="ellipse">
            <a:avLst/>
          </a:prstGeom>
          <a:solidFill>
            <a:srgbClr val="D4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14377" y="6019649"/>
            <a:ext cx="10362941" cy="0"/>
          </a:xfrm>
          <a:prstGeom prst="line">
            <a:avLst/>
          </a:prstGeom>
          <a:ln w="38100">
            <a:solidFill>
              <a:srgbClr val="624A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377" y="5477119"/>
            <a:ext cx="4571885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8D80B8"/>
                </a:solidFill>
                <a:latin typeface="PingFang SC"/>
                <a:ea typeface="PingFang SC"/>
              </a:rPr>
              <a:t>近三年复合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241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46540"/>
            <a:ext cx="12191695" cy="1341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FFFFFF"/>
                </a:solidFill>
                <a:latin typeface="PingFang SC"/>
                <a:ea typeface="PingFang SC"/>
              </a:rPr>
              <a:t>与我们同行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064" y="3733706"/>
            <a:ext cx="1371565" cy="114297"/>
          </a:xfrm>
          <a:prstGeom prst="rect">
            <a:avLst/>
          </a:prstGeom>
          <a:solidFill>
            <a:srgbClr val="D4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350911"/>
            <a:ext cx="12191695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8D80B8"/>
                </a:solidFill>
                <a:latin typeface="PingFang SC"/>
                <a:ea typeface="PingFang SC"/>
              </a:rPr>
              <a:t>本轮融资用途：研发 60% · 市场 40%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