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1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2396"/>
          </a:xfrm>
          <a:prstGeom prst="rect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74393"/>
            <a:ext cx="10667733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8FA8D9"/>
                </a:solidFill>
                <a:latin typeface="PingFang SC"/>
                <a:ea typeface="PingFang SC"/>
              </a:rPr>
              <a:t>Q3 经营复盘 · 管理层汇报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1949909"/>
            <a:ext cx="10667733" cy="11582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700" b="1">
                <a:solidFill>
                  <a:srgbClr val="FFFFFF"/>
                </a:solidFill>
                <a:latin typeface="PingFang SC"/>
                <a:ea typeface="PingFang SC"/>
              </a:rPr>
              <a:t>收入同比增长 18%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377" y="3200319"/>
            <a:ext cx="3276518" cy="1981150"/>
          </a:xfrm>
          <a:prstGeom prst="roundRect">
            <a:avLst>
              <a:gd name="adj" fmla="val 11538"/>
            </a:avLst>
          </a:prstGeom>
          <a:solidFill>
            <a:srgbClr val="2D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565" y="3715419"/>
            <a:ext cx="2666933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+18%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565" y="4533024"/>
            <a:ext cx="26669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FA8D9"/>
                </a:solidFill>
                <a:latin typeface="PingFang SC"/>
                <a:ea typeface="PingFang SC"/>
              </a:rPr>
              <a:t>营业收入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3200319"/>
            <a:ext cx="3276518" cy="1981150"/>
          </a:xfrm>
          <a:prstGeom prst="roundRect">
            <a:avLst>
              <a:gd name="adj" fmla="val 11538"/>
            </a:avLst>
          </a:prstGeom>
          <a:solidFill>
            <a:srgbClr val="2D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876" y="3715419"/>
            <a:ext cx="2666933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B020"/>
                </a:solidFill>
                <a:latin typeface="PingFang SC"/>
                <a:ea typeface="PingFang SC"/>
              </a:rPr>
              <a:t>-2.4pt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76" y="4533024"/>
            <a:ext cx="26669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FA8D9"/>
                </a:solidFill>
                <a:latin typeface="PingFang SC"/>
                <a:ea typeface="PingFang SC"/>
              </a:rPr>
              <a:t>利润率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3200319"/>
            <a:ext cx="3276518" cy="1981150"/>
          </a:xfrm>
          <a:prstGeom prst="roundRect">
            <a:avLst>
              <a:gd name="adj" fmla="val 11538"/>
            </a:avLst>
          </a:prstGeom>
          <a:solidFill>
            <a:srgbClr val="2D4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186" y="3715419"/>
            <a:ext cx="2666933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4CC38A"/>
                </a:solidFill>
                <a:latin typeface="PingFang SC"/>
                <a:ea typeface="PingFang SC"/>
              </a:rPr>
              <a:t>+32%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4533024"/>
            <a:ext cx="26669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FA8D9"/>
                </a:solidFill>
                <a:latin typeface="PingFang SC"/>
                <a:ea typeface="PingFang SC"/>
              </a:rPr>
              <a:t>华东区域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377" y="5791055"/>
            <a:ext cx="1523961" cy="114297"/>
          </a:xfrm>
          <a:prstGeom prst="rect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131" y="5714095"/>
            <a:ext cx="838179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5D729C"/>
                </a:solidFill>
                <a:latin typeface="PingFang SC"/>
                <a:ea typeface="PingFang SC"/>
              </a:rPr>
              <a:t>结论先行 · 数据优先 · 克制表达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1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三个信号，一个结论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26355C"/>
          </a:solidFill>
          <a:ln w="30480">
            <a:solidFill>
              <a:srgbClr val="3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B5FD9"/>
                </a:solidFill>
                <a:latin typeface="PingFang SC"/>
                <a:ea typeface="PingFang SC"/>
              </a:rPr>
              <a:t>增长质量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FA8D9"/>
                </a:solidFill>
                <a:latin typeface="PingFang SC"/>
                <a:ea typeface="PingFang SC"/>
              </a:rPr>
              <a:t>收入 +18%，华东领跑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26355C"/>
          </a:solidFill>
          <a:ln w="30480">
            <a:solidFill>
              <a:srgbClr val="3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B5FD9"/>
                </a:solidFill>
                <a:latin typeface="PingFang SC"/>
                <a:ea typeface="PingFang SC"/>
              </a:rPr>
              <a:t>利润承压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FA8D9"/>
                </a:solidFill>
                <a:latin typeface="PingFang SC"/>
                <a:ea typeface="PingFang SC"/>
              </a:rPr>
              <a:t>毛利率 -2.4pt 需关注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26355C"/>
          </a:solidFill>
          <a:ln w="30480">
            <a:solidFill>
              <a:srgbClr val="3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B5FD9"/>
                </a:solidFill>
                <a:latin typeface="PingFang SC"/>
                <a:ea typeface="PingFang SC"/>
              </a:rPr>
              <a:t>现金健康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FA8D9"/>
                </a:solidFill>
                <a:latin typeface="PingFang SC"/>
                <a:ea typeface="PingFang SC"/>
              </a:rPr>
              <a:t>应收周转环比改善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FA8D9"/>
                </a:solidFill>
                <a:latin typeface="PingFang SC"/>
                <a:ea typeface="PingFang SC"/>
              </a:rPr>
              <a:t>数据口径与明细见附录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1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关键指标一览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26355C"/>
          </a:solidFill>
          <a:ln w="30480">
            <a:solidFill>
              <a:srgbClr val="3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3B5FD9"/>
                </a:solidFill>
                <a:latin typeface="PingFang SC"/>
                <a:ea typeface="PingFang SC"/>
              </a:rPr>
              <a:t>128.4万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FA8D9"/>
                </a:solidFill>
                <a:latin typeface="PingFang SC"/>
                <a:ea typeface="PingFang SC"/>
              </a:rPr>
              <a:t>月成交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26355C"/>
          </a:solidFill>
          <a:ln w="30480">
            <a:solidFill>
              <a:srgbClr val="3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3B5FD9"/>
                </a:solidFill>
                <a:latin typeface="PingFang SC"/>
                <a:ea typeface="PingFang SC"/>
              </a:rPr>
              <a:t>99.2%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FA8D9"/>
                </a:solidFill>
                <a:latin typeface="PingFang SC"/>
                <a:ea typeface="PingFang SC"/>
              </a:rPr>
              <a:t>履约准时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26355C"/>
          </a:solidFill>
          <a:ln w="30480">
            <a:solidFill>
              <a:srgbClr val="3B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3B5FD9"/>
                </a:solidFill>
                <a:latin typeface="PingFang SC"/>
                <a:ea typeface="PingFang SC"/>
              </a:rPr>
              <a:t>42万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FA8D9"/>
                </a:solidFill>
                <a:latin typeface="PingFang SC"/>
                <a:ea typeface="PingFang SC"/>
              </a:rPr>
              <a:t>峰值 QPS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3B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3B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3B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3B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3B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2640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FA8D9"/>
                </a:solidFill>
                <a:latin typeface="PingFang SC"/>
                <a:ea typeface="PingFang SC"/>
              </a:rPr>
              <a:t>近 6 个月走势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1B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PingFang SC"/>
                <a:ea typeface="PingFang SC"/>
              </a:rPr>
              <a:t>谢谢 · 欢迎讨论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3B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8FA8D9"/>
                </a:solidFill>
                <a:latin typeface="PingFang SC"/>
                <a:ea typeface="PingFang SC"/>
              </a:rPr>
              <a:t>数据口径与明细见附录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