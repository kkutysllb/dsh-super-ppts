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0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972287"/>
            <a:ext cx="8381790" cy="975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>
                <a:solidFill>
                  <a:srgbClr val="0F766E"/>
                </a:solidFill>
                <a:latin typeface="PingFang SC"/>
                <a:ea typeface="PingFang SC"/>
              </a:rPr>
              <a:t>个人健康月报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377" y="1866091"/>
            <a:ext cx="838179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6B9C97"/>
                </a:solidFill>
                <a:latin typeface="PingFang SC"/>
                <a:ea typeface="PingFang SC"/>
              </a:rPr>
              <a:t>9 月 · 体征趋势与建议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377" y="2743131"/>
            <a:ext cx="3276518" cy="175255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38100">
            <a:solidFill>
              <a:srgbClr val="BF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7763" y="3194986"/>
            <a:ext cx="2666933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0E9488"/>
                </a:solidFill>
                <a:latin typeface="PingFang SC"/>
                <a:ea typeface="PingFang SC"/>
              </a:rPr>
              <a:t>72 bpm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763" y="3915058"/>
            <a:ext cx="26669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9C97"/>
                </a:solidFill>
                <a:latin typeface="PingFang SC"/>
                <a:ea typeface="PingFang SC"/>
              </a:rPr>
              <a:t>静息心率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5687" y="2743131"/>
            <a:ext cx="3276518" cy="175255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38100">
            <a:solidFill>
              <a:srgbClr val="BF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074" y="3194986"/>
            <a:ext cx="2666933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0E9488"/>
                </a:solidFill>
                <a:latin typeface="PingFang SC"/>
                <a:ea typeface="PingFang SC"/>
              </a:rPr>
              <a:t>7.5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074" y="3915058"/>
            <a:ext cx="26669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9C97"/>
                </a:solidFill>
                <a:latin typeface="PingFang SC"/>
                <a:ea typeface="PingFang SC"/>
              </a:rPr>
              <a:t>平均睡眠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6998" y="2743131"/>
            <a:ext cx="3200319" cy="1752556"/>
          </a:xfrm>
          <a:prstGeom prst="roundRect">
            <a:avLst>
              <a:gd name="adj" fmla="val 17391"/>
            </a:avLst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10384" y="3194986"/>
            <a:ext cx="2666933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PingFang SC"/>
                <a:ea typeface="PingFang SC"/>
              </a:rPr>
              <a:t>达标 92%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0384" y="3915058"/>
            <a:ext cx="26669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C7ECE8"/>
                </a:solidFill>
                <a:latin typeface="PingFang SC"/>
                <a:ea typeface="PingFang SC"/>
              </a:rPr>
              <a:t>运动目标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914377" y="5486262"/>
            <a:ext cx="1371565" cy="228595"/>
          </a:xfrm>
          <a:prstGeom prst="line">
            <a:avLst/>
          </a:prstGeom>
          <a:ln w="76200">
            <a:solidFill>
              <a:srgbClr val="52B3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85942" y="5486262"/>
            <a:ext cx="1371566" cy="152397"/>
          </a:xfrm>
          <a:prstGeom prst="line">
            <a:avLst/>
          </a:prstGeom>
          <a:ln w="76200">
            <a:solidFill>
              <a:srgbClr val="52B3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657508" y="5257668"/>
            <a:ext cx="1371566" cy="380991"/>
          </a:xfrm>
          <a:prstGeom prst="line">
            <a:avLst/>
          </a:prstGeom>
          <a:ln w="76200">
            <a:solidFill>
              <a:srgbClr val="52B3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074" y="5257668"/>
            <a:ext cx="1371565" cy="152396"/>
          </a:xfrm>
          <a:prstGeom prst="line">
            <a:avLst/>
          </a:prstGeom>
          <a:ln w="76200">
            <a:solidFill>
              <a:srgbClr val="52B3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400639" y="5029074"/>
            <a:ext cx="1371566" cy="380990"/>
          </a:xfrm>
          <a:prstGeom prst="line">
            <a:avLst/>
          </a:prstGeom>
          <a:ln w="76200">
            <a:solidFill>
              <a:srgbClr val="52B3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72205" y="5029074"/>
            <a:ext cx="1371566" cy="152396"/>
          </a:xfrm>
          <a:prstGeom prst="line">
            <a:avLst/>
          </a:prstGeom>
          <a:ln w="76200">
            <a:solidFill>
              <a:srgbClr val="52B3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43771" y="4800479"/>
            <a:ext cx="1371566" cy="380991"/>
          </a:xfrm>
          <a:prstGeom prst="line">
            <a:avLst/>
          </a:prstGeom>
          <a:ln w="76200">
            <a:solidFill>
              <a:srgbClr val="52B3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0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0F766E"/>
                </a:solidFill>
                <a:latin typeface="PingFang SC"/>
                <a:ea typeface="PingFang SC"/>
              </a:rPr>
              <a:t>本月健康画像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E9488"/>
                </a:solidFill>
                <a:latin typeface="PingFang SC"/>
                <a:ea typeface="PingFang SC"/>
              </a:rPr>
              <a:t>运动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6B9C97"/>
                </a:solidFill>
                <a:latin typeface="PingFang SC"/>
                <a:ea typeface="PingFang SC"/>
              </a:rPr>
              <a:t>达标 92%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E9488"/>
                </a:solidFill>
                <a:latin typeface="PingFang SC"/>
                <a:ea typeface="PingFang SC"/>
              </a:rPr>
              <a:t>睡眠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6B9C97"/>
                </a:solidFill>
                <a:latin typeface="PingFang SC"/>
                <a:ea typeface="PingFang SC"/>
              </a:rPr>
              <a:t>平均 7.5 小时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E9488"/>
                </a:solidFill>
                <a:latin typeface="PingFang SC"/>
                <a:ea typeface="PingFang SC"/>
              </a:rPr>
              <a:t>心率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6B9C97"/>
                </a:solidFill>
                <a:latin typeface="PingFang SC"/>
                <a:ea typeface="PingFang SC"/>
              </a:rPr>
              <a:t>静息 72 bpm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9C97"/>
                </a:solidFill>
                <a:latin typeface="PingFang SC"/>
                <a:ea typeface="PingFang SC"/>
              </a:rPr>
              <a:t>保持节奏 · 定期复查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0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0F766E"/>
                </a:solidFill>
                <a:latin typeface="PingFang SC"/>
                <a:ea typeface="PingFang SC"/>
              </a:rPr>
              <a:t>体征趋势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0E9488"/>
                </a:solidFill>
                <a:latin typeface="PingFang SC"/>
                <a:ea typeface="PingFang SC"/>
              </a:rPr>
              <a:t>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9C97"/>
                </a:solidFill>
                <a:latin typeface="PingFang SC"/>
                <a:ea typeface="PingFang SC"/>
              </a:rPr>
              <a:t>静息心率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0E9488"/>
                </a:solidFill>
                <a:latin typeface="PingFang SC"/>
                <a:ea typeface="PingFang SC"/>
              </a:rPr>
              <a:t>7.5h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9C97"/>
                </a:solidFill>
                <a:latin typeface="PingFang SC"/>
                <a:ea typeface="PingFang SC"/>
              </a:rPr>
              <a:t>睡眠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0E9488"/>
                </a:solidFill>
                <a:latin typeface="PingFang SC"/>
                <a:ea typeface="PingFang SC"/>
              </a:rPr>
              <a:t>8千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9C97"/>
                </a:solidFill>
                <a:latin typeface="PingFang SC"/>
                <a:ea typeface="PingFang SC"/>
              </a:rPr>
              <a:t>日均步数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0E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0E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0E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0E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0E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A1D6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9C97"/>
                </a:solidFill>
                <a:latin typeface="PingFang SC"/>
                <a:ea typeface="PingFang SC"/>
              </a:rPr>
              <a:t>近 30 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0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0F766E"/>
                </a:solidFill>
                <a:latin typeface="PingFang SC"/>
                <a:ea typeface="PingFang SC"/>
              </a:rPr>
              <a:t>健康建议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6B9C97"/>
                </a:solidFill>
                <a:latin typeface="PingFang SC"/>
                <a:ea typeface="PingFang SC"/>
              </a:rPr>
              <a:t>保持节奏 · 定期复查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