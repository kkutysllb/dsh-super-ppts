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95367"/>
          </a:xfrm>
          <a:prstGeom prst="rect">
            <a:avLst/>
          </a:prstGeom>
          <a:solidFill>
            <a:srgbClr val="C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451854"/>
            <a:ext cx="10667733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PingFang SC"/>
                <a:ea typeface="PingFang SC"/>
              </a:rPr>
              <a:t>第 3 讲 · 循环结构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2111449"/>
            <a:ext cx="1142971" cy="670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300" b="1">
                <a:solidFill>
                  <a:srgbClr val="C8871A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754" y="2111449"/>
            <a:ext cx="4571885" cy="670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300" b="0">
                <a:solidFill>
                  <a:srgbClr val="4A3A1A"/>
                </a:solidFill>
                <a:latin typeface="PingFang SC"/>
                <a:ea typeface="PingFang SC"/>
              </a:rPr>
              <a:t>认识循环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" y="3025826"/>
            <a:ext cx="1142971" cy="670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300" b="1">
                <a:solidFill>
                  <a:srgbClr val="C8871A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54" y="3025826"/>
            <a:ext cx="4571885" cy="670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300" b="0">
                <a:solidFill>
                  <a:srgbClr val="4A3A1A"/>
                </a:solidFill>
                <a:latin typeface="PingFang SC"/>
                <a:ea typeface="PingFang SC"/>
              </a:rPr>
              <a:t>循环三要素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77" y="3940203"/>
            <a:ext cx="1142971" cy="670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300" b="1">
                <a:solidFill>
                  <a:srgbClr val="C8871A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754" y="3940203"/>
            <a:ext cx="4571885" cy="670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300" b="0">
                <a:solidFill>
                  <a:srgbClr val="4A3A1A"/>
                </a:solidFill>
                <a:latin typeface="PingFang SC"/>
                <a:ea typeface="PingFang SC"/>
              </a:rPr>
              <a:t>动手练习</a:t>
            </a:r>
          </a:p>
        </p:txBody>
      </p:sp>
      <p:sp>
        <p:nvSpPr>
          <p:cNvPr id="11" name="Oval 10"/>
          <p:cNvSpPr/>
          <p:nvPr/>
        </p:nvSpPr>
        <p:spPr>
          <a:xfrm>
            <a:off x="8419889" y="2171645"/>
            <a:ext cx="1142971" cy="1142971"/>
          </a:xfrm>
          <a:prstGeom prst="ellipse">
            <a:avLst/>
          </a:prstGeom>
          <a:solidFill>
            <a:srgbClr val="CD9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1455" y="3086022"/>
            <a:ext cx="1142971" cy="1142971"/>
          </a:xfrm>
          <a:prstGeom prst="ellipse">
            <a:avLst/>
          </a:prstGeom>
          <a:solidFill>
            <a:srgbClr val="D7A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9889" y="4000399"/>
            <a:ext cx="1142971" cy="1142971"/>
          </a:xfrm>
          <a:prstGeom prst="ellipse">
            <a:avLst/>
          </a:prstGeom>
          <a:solidFill>
            <a:srgbClr val="E2B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8323" y="3086022"/>
            <a:ext cx="1142971" cy="1142971"/>
          </a:xfrm>
          <a:prstGeom prst="ellipse">
            <a:avLst/>
          </a:prstGeom>
          <a:solidFill>
            <a:srgbClr val="E9C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448563" y="3124121"/>
            <a:ext cx="533387" cy="228595"/>
          </a:xfrm>
          <a:prstGeom prst="line">
            <a:avLst/>
          </a:prstGeom>
          <a:ln w="57150">
            <a:solidFill>
              <a:srgbClr val="8A62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600959" y="4190895"/>
            <a:ext cx="533387" cy="228594"/>
          </a:xfrm>
          <a:prstGeom prst="line">
            <a:avLst/>
          </a:prstGeom>
          <a:ln w="57150">
            <a:solidFill>
              <a:srgbClr val="8A62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772205" y="3200319"/>
            <a:ext cx="533387" cy="990576"/>
          </a:xfrm>
          <a:prstGeom prst="line">
            <a:avLst/>
          </a:prstGeom>
          <a:ln w="57150">
            <a:solidFill>
              <a:srgbClr val="8A62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72365" y="6056986"/>
            <a:ext cx="2285942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700" b="0">
                <a:solidFill>
                  <a:srgbClr val="B09A6A"/>
                </a:solidFill>
                <a:latin typeface="PingFang SC"/>
                <a:ea typeface="PingFang SC"/>
              </a:rPr>
              <a:t>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C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4A3A1A"/>
                </a:solidFill>
                <a:latin typeface="PingFang SC"/>
                <a:ea typeface="PingFang SC"/>
              </a:rPr>
              <a:t>本讲目标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C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C88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C8871A"/>
                </a:solidFill>
                <a:latin typeface="PingFang SC"/>
                <a:ea typeface="PingFang SC"/>
              </a:rPr>
              <a:t>认识循环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B09A6A"/>
                </a:solidFill>
                <a:latin typeface="PingFang SC"/>
                <a:ea typeface="PingFang SC"/>
              </a:rPr>
              <a:t>从生活例子入手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C88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C8871A"/>
                </a:solidFill>
                <a:latin typeface="PingFang SC"/>
                <a:ea typeface="PingFang SC"/>
              </a:rPr>
              <a:t>三要素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B09A6A"/>
                </a:solidFill>
                <a:latin typeface="PingFang SC"/>
                <a:ea typeface="PingFang SC"/>
              </a:rPr>
              <a:t>初始化 · 条件 · 步进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30480">
            <a:solidFill>
              <a:srgbClr val="C88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C8871A"/>
                </a:solidFill>
                <a:latin typeface="PingFang SC"/>
                <a:ea typeface="PingFang SC"/>
              </a:rPr>
              <a:t>动手练习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B09A6A"/>
                </a:solidFill>
                <a:latin typeface="PingFang SC"/>
                <a:ea typeface="PingFang SC"/>
              </a:rPr>
              <a:t>画流程图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9A6A"/>
                </a:solidFill>
                <a:latin typeface="PingFang SC"/>
                <a:ea typeface="PingFang SC"/>
              </a:rPr>
              <a:t>课后作业已完成 78%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4A3A1A"/>
                </a:solidFill>
                <a:latin typeface="PingFang SC"/>
                <a:ea typeface="PingFang SC"/>
              </a:rPr>
              <a:t>课堂练习正确率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C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C88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C8871A"/>
                </a:solidFill>
                <a:latin typeface="PingFang SC"/>
                <a:ea typeface="PingFang SC"/>
              </a:rPr>
              <a:t>86%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9A6A"/>
                </a:solidFill>
                <a:latin typeface="PingFang SC"/>
                <a:ea typeface="PingFang SC"/>
              </a:rPr>
              <a:t>随堂测验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C88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C8871A"/>
                </a:solidFill>
                <a:latin typeface="PingFang SC"/>
                <a:ea typeface="PingFang SC"/>
              </a:rPr>
              <a:t>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9A6A"/>
                </a:solidFill>
                <a:latin typeface="PingFang SC"/>
                <a:ea typeface="PingFang SC"/>
              </a:rPr>
              <a:t>出勤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30480">
            <a:solidFill>
              <a:srgbClr val="C887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C8871A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9A6A"/>
                </a:solidFill>
                <a:latin typeface="PingFang SC"/>
                <a:ea typeface="PingFang SC"/>
              </a:rPr>
              <a:t>互动提问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C887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C887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C887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C887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C887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C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E9CFA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9A6A"/>
                </a:solidFill>
                <a:latin typeface="PingFang SC"/>
                <a:ea typeface="PingFang SC"/>
              </a:rPr>
              <a:t>本届两个班合计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4A3A1A"/>
                </a:solidFill>
                <a:latin typeface="PingFang SC"/>
                <a:ea typeface="PingFang SC"/>
              </a:rPr>
              <a:t>下讲预告：函数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C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B09A6A"/>
                </a:solidFill>
                <a:latin typeface="PingFang SC"/>
                <a:ea typeface="PingFang SC"/>
              </a:rPr>
              <a:t>课后作业已完成 78%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