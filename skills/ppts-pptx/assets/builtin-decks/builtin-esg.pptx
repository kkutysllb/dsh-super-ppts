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565" y="1371565"/>
            <a:ext cx="1219169" cy="1219169"/>
          </a:xfrm>
          <a:prstGeom prst="ellipse">
            <a:avLst/>
          </a:prstGeom>
          <a:noFill/>
          <a:ln w="1143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1371565" y="1371565"/>
            <a:ext cx="1219169" cy="1219169"/>
          </a:xfrm>
          <a:prstGeom prst="blockArc">
            <a:avLst>
              <a:gd name="adj1" fmla="val -9000000"/>
              <a:gd name="adj2" fmla="val 18000000"/>
              <a:gd name="adj3" fmla="val 10000"/>
            </a:avLst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565" y="1844755"/>
            <a:ext cx="1219169" cy="670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300" b="1">
                <a:solidFill>
                  <a:srgbClr val="14532D"/>
                </a:solidFill>
                <a:latin typeface="PingFang SC"/>
                <a:ea typeface="PingFang SC"/>
              </a:rPr>
              <a:t>38%</a:t>
            </a:r>
          </a:p>
        </p:txBody>
      </p:sp>
      <p:sp>
        <p:nvSpPr>
          <p:cNvPr id="6" name="Oval 5"/>
          <p:cNvSpPr/>
          <p:nvPr/>
        </p:nvSpPr>
        <p:spPr>
          <a:xfrm>
            <a:off x="4114697" y="1371565"/>
            <a:ext cx="1219169" cy="1219169"/>
          </a:xfrm>
          <a:prstGeom prst="ellipse">
            <a:avLst/>
          </a:prstGeom>
          <a:noFill/>
          <a:ln w="1143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697" y="1844755"/>
            <a:ext cx="1219169" cy="670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300" b="1">
                <a:solidFill>
                  <a:srgbClr val="14532D"/>
                </a:solidFill>
                <a:latin typeface="PingFang SC"/>
                <a:ea typeface="PingFang SC"/>
              </a:rPr>
              <a:t>64%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" y="3182032"/>
            <a:ext cx="10667733" cy="9753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800" b="1">
                <a:solidFill>
                  <a:srgbClr val="14532D"/>
                </a:solidFill>
                <a:latin typeface="PingFang SC"/>
                <a:ea typeface="PingFang SC"/>
              </a:rPr>
              <a:t>2026 可持续发展报告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77" y="4075836"/>
            <a:ext cx="10667733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6B7F6E"/>
                </a:solidFill>
                <a:latin typeface="PingFang SC"/>
                <a:ea typeface="PingFang SC"/>
              </a:rPr>
              <a:t>减碳 38% · 绿电占比 64% · 5 座无废工厂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181470"/>
            <a:ext cx="12191695" cy="1676358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377" y="5904590"/>
            <a:ext cx="10667733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4D7C5F"/>
                </a:solidFill>
                <a:latin typeface="PingFang SC"/>
                <a:ea typeface="PingFang SC"/>
              </a:rPr>
              <a:t>环境 · 社会 · 治理 三维披露 · 第三方鉴证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14532D"/>
                </a:solidFill>
                <a:latin typeface="PingFang SC"/>
                <a:ea typeface="PingFang SC"/>
              </a:rPr>
              <a:t>环境 E：减碳路径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304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5803D"/>
                </a:solidFill>
                <a:latin typeface="PingFang SC"/>
                <a:ea typeface="PingFang SC"/>
              </a:rPr>
              <a:t>能源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6B7F6E"/>
                </a:solidFill>
                <a:latin typeface="PingFang SC"/>
                <a:ea typeface="PingFang SC"/>
              </a:rPr>
              <a:t>绿电占比 64%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304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5803D"/>
                </a:solidFill>
                <a:latin typeface="PingFang SC"/>
                <a:ea typeface="PingFang SC"/>
              </a:rPr>
              <a:t>制造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6B7F6E"/>
                </a:solidFill>
                <a:latin typeface="PingFang SC"/>
                <a:ea typeface="PingFang SC"/>
              </a:rPr>
              <a:t>5 座无废工厂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F0FDF4"/>
          </a:solidFill>
          <a:ln w="304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5803D"/>
                </a:solidFill>
                <a:latin typeface="PingFang SC"/>
                <a:ea typeface="PingFang SC"/>
              </a:rPr>
              <a:t>物流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6B7F6E"/>
                </a:solidFill>
                <a:latin typeface="PingFang SC"/>
                <a:ea typeface="PingFang SC"/>
              </a:rPr>
              <a:t>短链直发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7F6E"/>
                </a:solidFill>
                <a:latin typeface="PingFang SC"/>
                <a:ea typeface="PingFang SC"/>
              </a:rPr>
              <a:t>范围三盘查启动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14532D"/>
                </a:solidFill>
                <a:latin typeface="PingFang SC"/>
                <a:ea typeface="PingFang SC"/>
              </a:rPr>
              <a:t>三维披露指标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304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15803D"/>
                </a:solidFill>
                <a:latin typeface="PingFang SC"/>
                <a:ea typeface="PingFang SC"/>
              </a:rPr>
              <a:t>-38%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7F6E"/>
                </a:solidFill>
                <a:latin typeface="PingFang SC"/>
                <a:ea typeface="PingFang SC"/>
              </a:rPr>
              <a:t>单厂碳强度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304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15803D"/>
                </a:solidFill>
                <a:latin typeface="PingFang SC"/>
                <a:ea typeface="PingFang SC"/>
              </a:rPr>
              <a:t>64%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7F6E"/>
                </a:solidFill>
                <a:latin typeface="PingFang SC"/>
                <a:ea typeface="PingFang SC"/>
              </a:rPr>
              <a:t>绿电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F0FDF4"/>
          </a:solidFill>
          <a:ln w="304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15803D"/>
                </a:solidFill>
                <a:latin typeface="PingFang SC"/>
                <a:ea typeface="PingFang SC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7F6E"/>
                </a:solidFill>
                <a:latin typeface="PingFang SC"/>
                <a:ea typeface="PingFang SC"/>
              </a:rPr>
              <a:t>MSCI 评级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158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158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158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158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1580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ADD3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6B7F6E"/>
                </a:solidFill>
                <a:latin typeface="PingFang SC"/>
                <a:ea typeface="PingFang SC"/>
              </a:rPr>
              <a:t>经第三方鉴证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14532D"/>
                </a:solidFill>
                <a:latin typeface="PingFang SC"/>
                <a:ea typeface="PingFang SC"/>
              </a:rPr>
              <a:t>迈向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6B7F6E"/>
                </a:solidFill>
                <a:latin typeface="PingFang SC"/>
                <a:ea typeface="PingFang SC"/>
              </a:rPr>
              <a:t>范围三盘查启动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