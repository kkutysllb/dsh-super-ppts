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594"/>
          </a:xfrm>
          <a:prstGeom prst="rect">
            <a:avLst/>
          </a:prstGeom>
          <a:gradFill rotWithShape="1">
            <a:gsLst>
              <a:gs pos="0">
                <a:srgbClr val="E64560"/>
              </a:gs>
              <a:gs pos="100000">
                <a:srgbClr val="F59E0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141447"/>
            <a:ext cx="10667733" cy="10972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11827"/>
                </a:solidFill>
                <a:latin typeface="PingFang SC"/>
                <a:ea typeface="PingFang SC"/>
              </a:rPr>
              <a:t>618 大促整合营销方案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2094685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种草 → 转化 → 复购 · 全域节奏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377" y="3047923"/>
            <a:ext cx="2285942" cy="1981150"/>
          </a:xfrm>
          <a:prstGeom prst="roundRect">
            <a:avLst>
              <a:gd name="adj" fmla="val 15384"/>
            </a:avLst>
          </a:prstGeom>
          <a:solidFill>
            <a:srgbClr val="E85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3567594"/>
            <a:ext cx="2285942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曝光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4257949"/>
            <a:ext cx="228594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2.4 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08" y="3047923"/>
            <a:ext cx="2285942" cy="1981150"/>
          </a:xfrm>
          <a:prstGeom prst="roundRect">
            <a:avLst>
              <a:gd name="adj" fmla="val 15384"/>
            </a:avLst>
          </a:prstGeom>
          <a:solidFill>
            <a:srgbClr val="EC6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8" y="3567594"/>
            <a:ext cx="2285942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种草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08" y="4257949"/>
            <a:ext cx="228594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CTR 4.2%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639" y="3047923"/>
            <a:ext cx="2285942" cy="1981150"/>
          </a:xfrm>
          <a:prstGeom prst="roundRect">
            <a:avLst>
              <a:gd name="adj" fmla="val 15384"/>
            </a:avLst>
          </a:prstGeom>
          <a:solidFill>
            <a:srgbClr val="F7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639" y="3567594"/>
            <a:ext cx="2285942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639" y="4257949"/>
            <a:ext cx="228594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GMV 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771" y="3047923"/>
            <a:ext cx="2133546" cy="1981150"/>
          </a:xfrm>
          <a:prstGeom prst="roundRect">
            <a:avLst>
              <a:gd name="adj" fmla="val 1538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771" y="3567594"/>
            <a:ext cx="2133546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B45309"/>
                </a:solidFill>
                <a:latin typeface="PingFang SC"/>
                <a:ea typeface="PingFang SC"/>
              </a:rPr>
              <a:t>复购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1" y="4257949"/>
            <a:ext cx="2133546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B45309"/>
                </a:solidFill>
                <a:latin typeface="PingFang SC"/>
                <a:ea typeface="PingFang SC"/>
              </a:rPr>
              <a:t>+18%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节点排期 · 预算分配 · 达人矩阵 · 风险预案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E6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827"/>
                </a:solidFill>
                <a:latin typeface="PingFang SC"/>
                <a:ea typeface="PingFang SC"/>
              </a:rPr>
              <a:t>全域节奏编排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E6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4560"/>
                </a:solidFill>
                <a:latin typeface="PingFang SC"/>
                <a:ea typeface="PingFang SC"/>
              </a:rPr>
              <a:t>预热期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种草铺量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4560"/>
                </a:solidFill>
                <a:latin typeface="PingFang SC"/>
                <a:ea typeface="PingFang SC"/>
              </a:rPr>
              <a:t>爆发期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直播 + 满减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64560"/>
                </a:solidFill>
                <a:latin typeface="PingFang SC"/>
                <a:ea typeface="PingFang SC"/>
              </a:rPr>
              <a:t>延续期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CA3AF"/>
                </a:solidFill>
                <a:latin typeface="PingFang SC"/>
                <a:ea typeface="PingFang SC"/>
              </a:rPr>
              <a:t>复购召回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预算与排期见附录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827"/>
                </a:solidFill>
                <a:latin typeface="PingFang SC"/>
                <a:ea typeface="PingFang SC"/>
              </a:rPr>
              <a:t>渠道漏斗数据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E6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64560"/>
                </a:solidFill>
                <a:latin typeface="PingFang SC"/>
                <a:ea typeface="PingFang SC"/>
              </a:rPr>
              <a:t>2.4亿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曝光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64560"/>
                </a:solidFill>
                <a:latin typeface="PingFang SC"/>
                <a:ea typeface="PingFang SC"/>
              </a:rPr>
              <a:t>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CTR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DF2F8"/>
          </a:solidFill>
          <a:ln w="30480">
            <a:solidFill>
              <a:srgbClr val="E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64560"/>
                </a:solidFill>
                <a:latin typeface="PingFang SC"/>
                <a:ea typeface="PingFang SC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复购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E645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E645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E645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E645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E645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E6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F6BE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PingFang SC"/>
                <a:ea typeface="PingFang SC"/>
              </a:rPr>
              <a:t>去年同档期对比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11827"/>
                </a:solidFill>
                <a:latin typeface="PingFang SC"/>
                <a:ea typeface="PingFang SC"/>
              </a:rPr>
              <a:t>一起打胜仗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E6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9CA3AF"/>
                </a:solidFill>
                <a:latin typeface="PingFang SC"/>
                <a:ea typeface="PingFang SC"/>
              </a:rPr>
              <a:t>预算与排期见附录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