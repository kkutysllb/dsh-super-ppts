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594" cy="6857828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377" y="1018768"/>
            <a:ext cx="10667733" cy="10362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5100" b="1">
                <a:solidFill>
                  <a:srgbClr val="155E4D"/>
                </a:solidFill>
                <a:latin typeface="PingFang SC"/>
                <a:ea typeface="PingFang SC"/>
              </a:rPr>
              <a:t>技术架构分享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377" y="1942289"/>
            <a:ext cx="10667733" cy="5486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0">
                <a:solidFill>
                  <a:srgbClr val="6B8A80"/>
                </a:solidFill>
                <a:latin typeface="PingFang SC"/>
                <a:ea typeface="PingFang SC"/>
              </a:rPr>
              <a:t>架构图与流程为主 · 方案讲解与评审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377" y="3505112"/>
            <a:ext cx="2666933" cy="1219169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38100">
            <a:solidFill>
              <a:srgbClr val="1F8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377" y="3931821"/>
            <a:ext cx="2666933" cy="609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000" b="0">
                <a:solidFill>
                  <a:srgbClr val="155E4D"/>
                </a:solidFill>
                <a:latin typeface="PingFang SC"/>
                <a:ea typeface="PingFang SC"/>
              </a:rPr>
              <a:t>客户端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00479" y="3505112"/>
            <a:ext cx="2666933" cy="1219169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38100">
            <a:solidFill>
              <a:srgbClr val="1F8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479" y="3931821"/>
            <a:ext cx="2666933" cy="609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000" b="0">
                <a:solidFill>
                  <a:srgbClr val="155E4D"/>
                </a:solidFill>
                <a:latin typeface="PingFang SC"/>
                <a:ea typeface="PingFang SC"/>
              </a:rPr>
              <a:t>网关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582" y="3505112"/>
            <a:ext cx="2666933" cy="1219169"/>
          </a:xfrm>
          <a:prstGeom prst="roundRect">
            <a:avLst>
              <a:gd name="adj" fmla="val 15625"/>
            </a:avLst>
          </a:prstGeom>
          <a:solidFill>
            <a:srgbClr val="E6F4F0"/>
          </a:solidFill>
          <a:ln w="38100">
            <a:solidFill>
              <a:srgbClr val="1F8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582" y="3931821"/>
            <a:ext cx="2666933" cy="609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000" b="0">
                <a:solidFill>
                  <a:srgbClr val="155E4D"/>
                </a:solidFill>
                <a:latin typeface="PingFang SC"/>
                <a:ea typeface="PingFang SC"/>
              </a:rPr>
              <a:t>服务集群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581310" y="4114697"/>
            <a:ext cx="1142971" cy="0"/>
          </a:xfrm>
          <a:prstGeom prst="line">
            <a:avLst/>
          </a:prstGeom>
          <a:ln w="57150">
            <a:solidFill>
              <a:srgbClr val="1F8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467413" y="4114697"/>
            <a:ext cx="1142971" cy="0"/>
          </a:xfrm>
          <a:prstGeom prst="line">
            <a:avLst/>
          </a:prstGeom>
          <a:ln w="57150">
            <a:solidFill>
              <a:srgbClr val="1F8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14377" y="5752194"/>
            <a:ext cx="10667733" cy="5486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0">
                <a:solidFill>
                  <a:srgbClr val="8AA39B"/>
                </a:solidFill>
                <a:latin typeface="PingFang SC"/>
                <a:ea typeface="PingFang SC"/>
              </a:rPr>
              <a:t>分层架构 · 调用链路 · 关键决策点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594" cy="6857828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377" y="1018768"/>
            <a:ext cx="10667733" cy="10362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5100" b="1">
                <a:solidFill>
                  <a:srgbClr val="155E4D"/>
                </a:solidFill>
                <a:latin typeface="PingFang SC"/>
                <a:ea typeface="PingFang SC"/>
              </a:rPr>
              <a:t>分层架构总览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377" y="1904952"/>
            <a:ext cx="990575" cy="114297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377" y="2666933"/>
            <a:ext cx="3124121" cy="236214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30480">
            <a:solidFill>
              <a:srgbClr val="1F8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5367" y="3148505"/>
            <a:ext cx="2362140" cy="7315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F8A70"/>
                </a:solidFill>
                <a:latin typeface="PingFang SC"/>
                <a:ea typeface="PingFang SC"/>
              </a:rPr>
              <a:t>接入层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367" y="3999638"/>
            <a:ext cx="2362140" cy="5486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0">
                <a:solidFill>
                  <a:srgbClr val="6B8A80"/>
                </a:solidFill>
                <a:latin typeface="PingFang SC"/>
                <a:ea typeface="PingFang SC"/>
              </a:rPr>
              <a:t>客户端与开放 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95687" y="2666933"/>
            <a:ext cx="3124121" cy="236214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30480">
            <a:solidFill>
              <a:srgbClr val="1F8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76678" y="3148505"/>
            <a:ext cx="2362140" cy="7315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F8A70"/>
                </a:solidFill>
                <a:latin typeface="PingFang SC"/>
                <a:ea typeface="PingFang SC"/>
              </a:rPr>
              <a:t>网关层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6678" y="3999638"/>
            <a:ext cx="2362140" cy="5486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0">
                <a:solidFill>
                  <a:srgbClr val="6B8A80"/>
                </a:solidFill>
                <a:latin typeface="PingFang SC"/>
                <a:ea typeface="PingFang SC"/>
              </a:rPr>
              <a:t>鉴权 · 限流 · 路由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6998" y="2666933"/>
            <a:ext cx="3124121" cy="236214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30480">
            <a:solidFill>
              <a:srgbClr val="1F8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7988" y="3148505"/>
            <a:ext cx="2362140" cy="7315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F8A70"/>
                </a:solidFill>
                <a:latin typeface="PingFang SC"/>
                <a:ea typeface="PingFang SC"/>
              </a:rPr>
              <a:t>服务层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7988" y="3999638"/>
            <a:ext cx="2362140" cy="5486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0">
                <a:solidFill>
                  <a:srgbClr val="6B8A80"/>
                </a:solidFill>
                <a:latin typeface="PingFang SC"/>
                <a:ea typeface="PingFang SC"/>
              </a:rPr>
              <a:t>集群弹性伸缩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377" y="5781911"/>
            <a:ext cx="10667733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6B8A80"/>
                </a:solidFill>
                <a:latin typeface="PingFang SC"/>
                <a:ea typeface="PingFang SC"/>
              </a:rPr>
              <a:t>架构评审意见请留档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377" y="866372"/>
            <a:ext cx="10667733" cy="10362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5100" b="1">
                <a:solidFill>
                  <a:srgbClr val="155E4D"/>
                </a:solidFill>
                <a:latin typeface="PingFang SC"/>
                <a:ea typeface="PingFang SC"/>
              </a:rPr>
              <a:t>性能基线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377" y="1752556"/>
            <a:ext cx="990575" cy="114297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377" y="2362140"/>
            <a:ext cx="3200319" cy="1523961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0480">
            <a:solidFill>
              <a:srgbClr val="1F8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5367" y="2737797"/>
            <a:ext cx="2514537" cy="792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900" b="1">
                <a:solidFill>
                  <a:srgbClr val="1F8A70"/>
                </a:solidFill>
                <a:latin typeface="PingFang SC"/>
                <a:ea typeface="PingFang SC"/>
              </a:rPr>
              <a:t>P99 86ms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5367" y="3419770"/>
            <a:ext cx="2514537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6B8A80"/>
                </a:solidFill>
                <a:latin typeface="PingFang SC"/>
                <a:ea typeface="PingFang SC"/>
              </a:rPr>
              <a:t>网关延迟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9489" y="2362140"/>
            <a:ext cx="3200319" cy="1523961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0480">
            <a:solidFill>
              <a:srgbClr val="1F8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479" y="2737797"/>
            <a:ext cx="2514537" cy="792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900" b="1">
                <a:solidFill>
                  <a:srgbClr val="1F8A70"/>
                </a:solidFill>
                <a:latin typeface="PingFang SC"/>
                <a:ea typeface="PingFang SC"/>
              </a:rPr>
              <a:t>99.99%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479" y="3419770"/>
            <a:ext cx="2514537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6B8A80"/>
                </a:solidFill>
                <a:latin typeface="PingFang SC"/>
                <a:ea typeface="PingFang SC"/>
              </a:rPr>
              <a:t>可用性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24601" y="2362140"/>
            <a:ext cx="3200319" cy="1523961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0480">
            <a:solidFill>
              <a:srgbClr val="1F8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5592" y="2737797"/>
            <a:ext cx="2514537" cy="792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900" b="1">
                <a:solidFill>
                  <a:srgbClr val="1F8A70"/>
                </a:solidFill>
                <a:latin typeface="PingFang SC"/>
                <a:ea typeface="PingFang SC"/>
              </a:rPr>
              <a:t>3.2k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5592" y="3419770"/>
            <a:ext cx="2514537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6B8A80"/>
                </a:solidFill>
                <a:latin typeface="PingFang SC"/>
                <a:ea typeface="PingFang SC"/>
              </a:rPr>
              <a:t>峰值 QPS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1142971" y="4952876"/>
            <a:ext cx="1752556" cy="304792"/>
          </a:xfrm>
          <a:prstGeom prst="line">
            <a:avLst/>
          </a:prstGeom>
          <a:ln w="76200">
            <a:solidFill>
              <a:srgbClr val="1F8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895527" y="4952876"/>
            <a:ext cx="1828754" cy="152396"/>
          </a:xfrm>
          <a:prstGeom prst="line">
            <a:avLst/>
          </a:prstGeom>
          <a:ln w="76200">
            <a:solidFill>
              <a:srgbClr val="1F8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724281" y="4267093"/>
            <a:ext cx="1828755" cy="838179"/>
          </a:xfrm>
          <a:prstGeom prst="line">
            <a:avLst/>
          </a:prstGeom>
          <a:ln w="76200">
            <a:solidFill>
              <a:srgbClr val="1F8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553036" y="3657508"/>
            <a:ext cx="1828754" cy="609585"/>
          </a:xfrm>
          <a:prstGeom prst="line">
            <a:avLst/>
          </a:prstGeom>
          <a:ln w="76200">
            <a:solidFill>
              <a:srgbClr val="1F8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381790" y="2666933"/>
            <a:ext cx="2285943" cy="990575"/>
          </a:xfrm>
          <a:prstGeom prst="line">
            <a:avLst/>
          </a:prstGeom>
          <a:ln w="76200">
            <a:solidFill>
              <a:srgbClr val="1F8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10553436" y="2552636"/>
            <a:ext cx="228594" cy="228594"/>
          </a:xfrm>
          <a:prstGeom prst="ellipse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914377" y="6019649"/>
            <a:ext cx="10362941" cy="0"/>
          </a:xfrm>
          <a:prstGeom prst="line">
            <a:avLst/>
          </a:prstGeom>
          <a:ln w="38100">
            <a:solidFill>
              <a:srgbClr val="A9D1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14377" y="5477119"/>
            <a:ext cx="4571885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6B8A80"/>
                </a:solidFill>
                <a:latin typeface="PingFang SC"/>
                <a:ea typeface="PingFang SC"/>
              </a:rPr>
              <a:t>压测报告摘要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546540"/>
            <a:ext cx="12191695" cy="13410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600" b="1">
                <a:solidFill>
                  <a:srgbClr val="155E4D"/>
                </a:solidFill>
                <a:latin typeface="PingFang SC"/>
                <a:ea typeface="PingFang SC"/>
              </a:rPr>
              <a:t>Q&amp;A · 欢迎交流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5410064" y="3733706"/>
            <a:ext cx="1371565" cy="114297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4350911"/>
            <a:ext cx="12191695" cy="609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000" b="0">
                <a:solidFill>
                  <a:srgbClr val="6B8A80"/>
                </a:solidFill>
                <a:latin typeface="PingFang SC"/>
                <a:ea typeface="PingFang SC"/>
              </a:rPr>
              <a:t>架构评审意见请留档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