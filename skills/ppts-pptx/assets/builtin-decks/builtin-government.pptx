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76358"/>
          </a:xfrm>
          <a:prstGeom prst="rect">
            <a:avLst/>
          </a:prstGeom>
          <a:solidFill>
            <a:srgbClr val="C7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76358"/>
            <a:ext cx="12191695" cy="114297"/>
          </a:xfrm>
          <a:prstGeom prst="rect">
            <a:avLst/>
          </a:prstGeom>
          <a:solidFill>
            <a:srgbClr val="D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72067"/>
            <a:ext cx="12191695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/>
                <a:ea typeface="PingFang SC"/>
              </a:rPr>
              <a:t>全市数字化转型工作汇报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77" y="2496249"/>
            <a:ext cx="10667733" cy="975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8C1F10"/>
                </a:solidFill>
                <a:latin typeface="PingFang SC"/>
                <a:ea typeface="PingFang SC"/>
              </a:rPr>
              <a:t>聚焦实干 · 数据说话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77" y="3276518"/>
            <a:ext cx="304792" cy="304792"/>
          </a:xfrm>
          <a:prstGeom prst="rect">
            <a:avLst/>
          </a:prstGeom>
          <a:solidFill>
            <a:srgbClr val="D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159" y="3284137"/>
            <a:ext cx="9524761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0">
                <a:solidFill>
                  <a:srgbClr val="4A3A2A"/>
                </a:solidFill>
                <a:latin typeface="PingFang SC"/>
                <a:ea typeface="PingFang SC"/>
              </a:rPr>
              <a:t>一网通办覆盖率达 92%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77" y="4038499"/>
            <a:ext cx="304792" cy="304792"/>
          </a:xfrm>
          <a:prstGeom prst="rect">
            <a:avLst/>
          </a:prstGeom>
          <a:solidFill>
            <a:srgbClr val="D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159" y="4046118"/>
            <a:ext cx="9524761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0">
                <a:solidFill>
                  <a:srgbClr val="4A3A2A"/>
                </a:solidFill>
                <a:latin typeface="PingFang SC"/>
                <a:ea typeface="PingFang SC"/>
              </a:rPr>
              <a:t>政务云迁移完成三级等保测评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77" y="4800479"/>
            <a:ext cx="304792" cy="304792"/>
          </a:xfrm>
          <a:prstGeom prst="rect">
            <a:avLst/>
          </a:prstGeom>
          <a:solidFill>
            <a:srgbClr val="D9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159" y="4808099"/>
            <a:ext cx="9524761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0">
                <a:solidFill>
                  <a:srgbClr val="4A3A2A"/>
                </a:solidFill>
                <a:latin typeface="PingFang SC"/>
                <a:ea typeface="PingFang SC"/>
              </a:rPr>
              <a:t>惠企政策直达 12 万家市场主体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77" y="6086703"/>
            <a:ext cx="9905752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72"/>
                </a:solidFill>
                <a:latin typeface="PingFang SC"/>
                <a:ea typeface="PingFang SC"/>
              </a:rPr>
              <a:t>红头风格 · 规范格式 · 严谨表述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C7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8C1F10"/>
                </a:solidFill>
                <a:latin typeface="PingFang SC"/>
                <a:ea typeface="PingFang SC"/>
              </a:rPr>
              <a:t>重点任务推进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C7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C73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C7351F"/>
                </a:solidFill>
                <a:latin typeface="PingFang SC"/>
                <a:ea typeface="PingFang SC"/>
              </a:rPr>
              <a:t>一网通办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09A72"/>
                </a:solidFill>
                <a:latin typeface="PingFang SC"/>
                <a:ea typeface="PingFang SC"/>
              </a:rPr>
              <a:t>覆盖率 92%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C73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C7351F"/>
                </a:solidFill>
                <a:latin typeface="PingFang SC"/>
                <a:ea typeface="PingFang SC"/>
              </a:rPr>
              <a:t>政务云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09A72"/>
                </a:solidFill>
                <a:latin typeface="PingFang SC"/>
                <a:ea typeface="PingFang SC"/>
              </a:rPr>
              <a:t>三级等保完成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C73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C7351F"/>
                </a:solidFill>
                <a:latin typeface="PingFang SC"/>
                <a:ea typeface="PingFang SC"/>
              </a:rPr>
              <a:t>惠企直达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09A72"/>
                </a:solidFill>
                <a:latin typeface="PingFang SC"/>
                <a:ea typeface="PingFang SC"/>
              </a:rPr>
              <a:t>12 万家主体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72"/>
                </a:solidFill>
                <a:latin typeface="PingFang SC"/>
                <a:ea typeface="PingFang SC"/>
              </a:rPr>
              <a:t>向人大报告并公开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8C1F10"/>
                </a:solidFill>
                <a:latin typeface="PingFang SC"/>
                <a:ea typeface="PingFang SC"/>
              </a:rPr>
              <a:t>服务效能数据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C7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C73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C7351F"/>
                </a:solidFill>
                <a:latin typeface="PingFang SC"/>
                <a:ea typeface="PingFang SC"/>
              </a:rPr>
              <a:t>92%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72"/>
                </a:solidFill>
                <a:latin typeface="PingFang SC"/>
                <a:ea typeface="PingFang SC"/>
              </a:rPr>
              <a:t>网办率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C73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C7351F"/>
                </a:solidFill>
                <a:latin typeface="PingFang SC"/>
                <a:ea typeface="PingFang SC"/>
              </a:rPr>
              <a:t>-38%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72"/>
                </a:solidFill>
                <a:latin typeface="PingFang SC"/>
                <a:ea typeface="PingFang SC"/>
              </a:rPr>
              <a:t>平均时限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C73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C7351F"/>
                </a:solidFill>
                <a:latin typeface="PingFang SC"/>
                <a:ea typeface="PingFang SC"/>
              </a:rPr>
              <a:t>98.6%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72"/>
                </a:solidFill>
                <a:latin typeface="PingFang SC"/>
                <a:ea typeface="PingFang SC"/>
              </a:rPr>
              <a:t>好差评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C73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C73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C73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C73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C735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C7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E9B2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72"/>
                </a:solidFill>
                <a:latin typeface="PingFang SC"/>
                <a:ea typeface="PingFang SC"/>
              </a:rPr>
              <a:t>本年度累计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8C1F10"/>
                </a:solidFill>
                <a:latin typeface="PingFang SC"/>
                <a:ea typeface="PingFang SC"/>
              </a:rPr>
              <a:t>下一步工作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C7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B09A72"/>
                </a:solidFill>
                <a:latin typeface="PingFang SC"/>
                <a:ea typeface="PingFang SC"/>
              </a:rPr>
              <a:t>向人大报告并公开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