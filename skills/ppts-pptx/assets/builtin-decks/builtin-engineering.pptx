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565"/>
            <a:ext cx="12191695" cy="0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2743131"/>
            <a:ext cx="12191695" cy="0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4114697"/>
            <a:ext cx="12191695" cy="0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5486262"/>
            <a:ext cx="12191695" cy="0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438339" y="0"/>
            <a:ext cx="0" cy="6857828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76678" y="0"/>
            <a:ext cx="0" cy="6857828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017" y="0"/>
            <a:ext cx="0" cy="6857828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53356" y="0"/>
            <a:ext cx="0" cy="6857828"/>
          </a:xfrm>
          <a:prstGeom prst="line">
            <a:avLst/>
          </a:prstGeom>
          <a:ln w="38100">
            <a:solidFill>
              <a:srgbClr val="3140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377" y="914377"/>
            <a:ext cx="2438339" cy="68578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377" y="1104110"/>
            <a:ext cx="2438339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700" b="1">
                <a:solidFill>
                  <a:srgbClr val="263238"/>
                </a:solidFill>
                <a:latin typeface="PingFang SC"/>
                <a:ea typeface="PingFang SC"/>
              </a:rPr>
              <a:t>进度 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77" y="2068778"/>
            <a:ext cx="8381790" cy="9143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PingFang SC"/>
                <a:ea typeface="PingFang SC"/>
              </a:rPr>
              <a:t>东部枢纽项目 · 周报 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377" y="2932864"/>
            <a:ext cx="838179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0A4AE"/>
                </a:solidFill>
                <a:latin typeface="PingFang SC"/>
                <a:ea typeface="PingFang SC"/>
              </a:rPr>
              <a:t>主体结构 18F · 幕墙 60% · 机电预埋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6998" y="1981150"/>
            <a:ext cx="1676358" cy="3657508"/>
          </a:xfrm>
          <a:prstGeom prst="rect">
            <a:avLst/>
          </a:prstGeom>
          <a:noFill/>
          <a:ln w="571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8076998" y="2590735"/>
            <a:ext cx="1676358" cy="0"/>
          </a:xfrm>
          <a:prstGeom prst="line">
            <a:avLst/>
          </a:prstGeom>
          <a:ln w="30480">
            <a:solidFill>
              <a:srgbClr val="B77E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76998" y="3200319"/>
            <a:ext cx="1676358" cy="0"/>
          </a:xfrm>
          <a:prstGeom prst="line">
            <a:avLst/>
          </a:prstGeom>
          <a:ln w="30480">
            <a:solidFill>
              <a:srgbClr val="B77E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76998" y="3809904"/>
            <a:ext cx="1676358" cy="0"/>
          </a:xfrm>
          <a:prstGeom prst="line">
            <a:avLst/>
          </a:prstGeom>
          <a:ln w="30480">
            <a:solidFill>
              <a:srgbClr val="B77E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76998" y="4419489"/>
            <a:ext cx="1676358" cy="0"/>
          </a:xfrm>
          <a:prstGeom prst="line">
            <a:avLst/>
          </a:prstGeom>
          <a:ln w="30480">
            <a:solidFill>
              <a:srgbClr val="B77E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76998" y="5029074"/>
            <a:ext cx="1676358" cy="0"/>
          </a:xfrm>
          <a:prstGeom prst="line">
            <a:avLst/>
          </a:prstGeom>
          <a:ln w="30480">
            <a:solidFill>
              <a:srgbClr val="B77E1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981950" y="2895527"/>
            <a:ext cx="1295367" cy="2743131"/>
          </a:xfrm>
          <a:prstGeom prst="rect">
            <a:avLst/>
          </a:prstGeom>
          <a:noFill/>
          <a:ln w="57150">
            <a:solidFill>
              <a:srgbClr val="7890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9981950" y="3505112"/>
            <a:ext cx="1295368" cy="0"/>
          </a:xfrm>
          <a:prstGeom prst="line">
            <a:avLst/>
          </a:prstGeom>
          <a:ln w="30480">
            <a:solidFill>
              <a:srgbClr val="5F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81950" y="4114697"/>
            <a:ext cx="1295368" cy="0"/>
          </a:xfrm>
          <a:prstGeom prst="line">
            <a:avLst/>
          </a:prstGeom>
          <a:ln w="30480">
            <a:solidFill>
              <a:srgbClr val="5F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981950" y="4724281"/>
            <a:ext cx="1295368" cy="0"/>
          </a:xfrm>
          <a:prstGeom prst="line">
            <a:avLst/>
          </a:prstGeom>
          <a:ln w="30480">
            <a:solidFill>
              <a:srgbClr val="5F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981950" y="5333866"/>
            <a:ext cx="1295368" cy="0"/>
          </a:xfrm>
          <a:prstGeom prst="line">
            <a:avLst/>
          </a:prstGeom>
          <a:ln w="30480">
            <a:solidFill>
              <a:srgbClr val="5F74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104872" y="5676758"/>
            <a:ext cx="228594" cy="22859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159" y="5705713"/>
            <a:ext cx="228594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BEC5"/>
                </a:solidFill>
                <a:latin typeface="PingFang SC"/>
                <a:ea typeface="PingFang SC"/>
              </a:rPr>
              <a:t>基坑</a:t>
            </a:r>
          </a:p>
        </p:txBody>
      </p:sp>
      <p:sp>
        <p:nvSpPr>
          <p:cNvPr id="28" name="Oval 27"/>
          <p:cNvSpPr/>
          <p:nvPr/>
        </p:nvSpPr>
        <p:spPr>
          <a:xfrm>
            <a:off x="4152796" y="5676758"/>
            <a:ext cx="228594" cy="22859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8083" y="5705713"/>
            <a:ext cx="2285942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BEC5"/>
                </a:solidFill>
                <a:latin typeface="PingFang SC"/>
                <a:ea typeface="PingFang SC"/>
              </a:rPr>
              <a:t>主体</a:t>
            </a:r>
          </a:p>
        </p:txBody>
      </p:sp>
      <p:sp>
        <p:nvSpPr>
          <p:cNvPr id="30" name="Oval 29"/>
          <p:cNvSpPr/>
          <p:nvPr/>
        </p:nvSpPr>
        <p:spPr>
          <a:xfrm>
            <a:off x="7200719" y="5676758"/>
            <a:ext cx="228594" cy="228594"/>
          </a:xfrm>
          <a:prstGeom prst="ellipse">
            <a:avLst/>
          </a:prstGeom>
          <a:noFill/>
          <a:ln w="5715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6007" y="5705713"/>
            <a:ext cx="304792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B0BEC5"/>
                </a:solidFill>
                <a:latin typeface="PingFang SC"/>
                <a:ea typeface="PingFang SC"/>
              </a:rPr>
              <a:t>幕墙 · 机电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本周施工进展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31404A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ingFang SC"/>
                <a:ea typeface="PingFang SC"/>
              </a:rPr>
              <a:t>主体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0A4AE"/>
                </a:solidFill>
                <a:latin typeface="PingFang SC"/>
                <a:ea typeface="PingFang SC"/>
              </a:rPr>
              <a:t>结构 18F 封顶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31404A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ingFang SC"/>
                <a:ea typeface="PingFang SC"/>
              </a:rPr>
              <a:t>幕墙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0A4AE"/>
                </a:solidFill>
                <a:latin typeface="PingFang SC"/>
                <a:ea typeface="PingFang SC"/>
              </a:rPr>
              <a:t>南立面 60%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31404A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PingFang SC"/>
                <a:ea typeface="PingFang SC"/>
              </a:rPr>
              <a:t>机电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0A4AE"/>
                </a:solidFill>
                <a:latin typeface="PingFang SC"/>
                <a:ea typeface="PingFang SC"/>
              </a:rPr>
              <a:t>预埋管线过半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0A4AE"/>
                </a:solidFill>
                <a:latin typeface="PingFang SC"/>
                <a:ea typeface="PingFang SC"/>
              </a:rPr>
              <a:t>幕墙大面施工 · 机电插层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进度曲线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31404A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59E0B"/>
                </a:solidFill>
                <a:latin typeface="PingFang SC"/>
                <a:ea typeface="PingFang SC"/>
              </a:rPr>
              <a:t>62%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0A4AE"/>
                </a:solidFill>
                <a:latin typeface="PingFang SC"/>
                <a:ea typeface="PingFang SC"/>
              </a:rPr>
              <a:t>总进度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31404A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59E0B"/>
                </a:solidFill>
                <a:latin typeface="PingFang SC"/>
                <a:ea typeface="PingFang SC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0A4AE"/>
                </a:solidFill>
                <a:latin typeface="PingFang SC"/>
                <a:ea typeface="PingFang SC"/>
              </a:rPr>
              <a:t>安全事故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31404A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59E0B"/>
                </a:solidFill>
                <a:latin typeface="PingFang SC"/>
                <a:ea typeface="PingFang SC"/>
              </a:rPr>
              <a:t>+2天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0A4AE"/>
                </a:solidFill>
                <a:latin typeface="PingFang SC"/>
                <a:ea typeface="PingFang SC"/>
              </a:rPr>
              <a:t>关键路径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6E582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0A4AE"/>
                </a:solidFill>
                <a:latin typeface="PingFang SC"/>
                <a:ea typeface="PingFang SC"/>
              </a:rPr>
              <a:t>开工第 32 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263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PingFang SC"/>
                <a:ea typeface="PingFang SC"/>
              </a:rPr>
              <a:t>下阶段计划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90A4AE"/>
                </a:solidFill>
                <a:latin typeface="PingFang SC"/>
                <a:ea typeface="PingFang SC"/>
              </a:rPr>
              <a:t>幕墙大面施工 · 机电插层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